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90" r:id="rId4"/>
    <p:sldId id="285" r:id="rId5"/>
    <p:sldId id="273" r:id="rId6"/>
    <p:sldId id="266" r:id="rId7"/>
    <p:sldId id="272" r:id="rId8"/>
    <p:sldId id="270" r:id="rId9"/>
    <p:sldId id="271" r:id="rId10"/>
    <p:sldId id="274" r:id="rId11"/>
    <p:sldId id="275" r:id="rId12"/>
    <p:sldId id="276" r:id="rId13"/>
    <p:sldId id="277" r:id="rId14"/>
    <p:sldId id="282" r:id="rId15"/>
    <p:sldId id="278" r:id="rId16"/>
    <p:sldId id="279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63F9CA8-6CFE-4413-9C4F-158133CE2251}">
          <p14:sldIdLst/>
        </p14:section>
        <p14:section name="3차 수정" id="{8568B02A-23A1-4E21-B085-FBDC8720F610}">
          <p14:sldIdLst>
            <p14:sldId id="283"/>
            <p14:sldId id="284"/>
            <p14:sldId id="290"/>
            <p14:sldId id="285"/>
          </p14:sldIdLst>
        </p14:section>
        <p14:section name="2차 수정" id="{4CBD114C-D1B8-487B-BE29-F1BB357F5F09}">
          <p14:sldIdLst>
            <p14:sldId id="273"/>
            <p14:sldId id="266"/>
            <p14:sldId id="272"/>
            <p14:sldId id="270"/>
            <p14:sldId id="271"/>
            <p14:sldId id="274"/>
            <p14:sldId id="275"/>
            <p14:sldId id="276"/>
            <p14:sldId id="277"/>
            <p14:sldId id="282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2173B9-F686-4FF9-890F-0B12074A0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2352CC-1576-4D33-A4AC-9099F431B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893327-282B-4451-A8D7-A2875C37D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E390-F2F0-4A79-9860-37FBEA1CA4F5}" type="datetimeFigureOut">
              <a:rPr lang="ko-KR" altLang="en-US" smtClean="0"/>
              <a:t>2025-12-20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124CCC-6AA2-487E-91DA-3CF181560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02BE0A-2D68-4234-BBBD-3B128E77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0ADF-4005-4C94-8DEA-1DD573E72C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8495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ECF27-1BEE-42C4-9AAC-63FD5646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10F2C9-2B20-4E66-AC18-BB87FC740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9DF1DB-8718-4585-98DD-156277774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E390-F2F0-4A79-9860-37FBEA1CA4F5}" type="datetimeFigureOut">
              <a:rPr lang="ko-KR" altLang="en-US" smtClean="0"/>
              <a:t>2025-12-20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32BF64-1869-4944-AC72-EBD3B74F0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5DB650-2F02-47EB-B4E5-733E05EDD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0ADF-4005-4C94-8DEA-1DD573E72C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1251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5A6D4A-30EF-4019-BB8D-E5145404A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82BF0F-3D8A-4462-BD3E-6817785C5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BF0466-E39D-4B2D-BF52-11317393C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E390-F2F0-4A79-9860-37FBEA1CA4F5}" type="datetimeFigureOut">
              <a:rPr lang="ko-KR" altLang="en-US" smtClean="0"/>
              <a:t>2025-12-20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DB20EE-3D4D-4AF5-9282-18EB63F2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7EF36E-B982-4107-97FD-44D305945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0ADF-4005-4C94-8DEA-1DD573E72C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526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950E44-998C-4EBE-8F5D-289F0DD70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14CDAE-6968-493F-9B0C-AD4CCE79E0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DE253D-4C48-4017-BDCB-D8440368F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40CC39-1A52-400E-B328-168C8204D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E390-F2F0-4A79-9860-37FBEA1CA4F5}" type="datetimeFigureOut">
              <a:rPr lang="ko-KR" altLang="en-US" smtClean="0"/>
              <a:t>2025-12-20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418ADE-AF7B-4925-8403-08AF7A8B3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6B153D-DFEE-4305-8210-AE21B8B54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0ADF-4005-4C94-8DEA-1DD573E72C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5570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D40D30-FA79-4893-A069-5533E8F75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BAED1C-427E-4D89-9531-CCA86AD9F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31F6B0-5F75-4A42-B176-D02ADD460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3F277B-E9EF-4867-92B5-4D73B761D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147819-26C7-425F-8BD8-5010FD18D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594227-72CB-4487-914C-650606BB6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E390-F2F0-4A79-9860-37FBEA1CA4F5}" type="datetimeFigureOut">
              <a:rPr lang="ko-KR" altLang="en-US" smtClean="0"/>
              <a:t>2025-12-20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8D511C-1622-4F1E-87D2-327C01768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F362675-0D3B-4D2B-86DE-59E6ED1C0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0ADF-4005-4C94-8DEA-1DD573E72C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1586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AAB283-9D89-497D-AB2C-AC598F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8CFD2AC-1A13-4D72-9F97-D851BEC8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E390-F2F0-4A79-9860-37FBEA1CA4F5}" type="datetimeFigureOut">
              <a:rPr lang="ko-KR" altLang="en-US" smtClean="0"/>
              <a:t>2025-12-20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BE1C08-3565-4236-B1E1-D8D58BA62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6E34A0-F564-40FA-899A-EA2507B74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0ADF-4005-4C94-8DEA-1DD573E72C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0260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401C76-2111-4DE2-A696-D5CFCB681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E390-F2F0-4A79-9860-37FBEA1CA4F5}" type="datetimeFigureOut">
              <a:rPr lang="ko-KR" altLang="en-US" smtClean="0"/>
              <a:t>2025-12-20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CFA2579-7371-44C5-B7A1-65829A864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A09CB5-302A-4FDF-8412-C13755F2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0ADF-4005-4C94-8DEA-1DD573E72C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889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392C7-66AD-406A-9FD8-89AE8675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BC97A-BAFA-4664-BCD6-448FF2BF1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0C1F84-0DC2-4DA7-A0E7-59E0D41F8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D3BA74-3094-4ABE-A7E0-7125FD2E8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E390-F2F0-4A79-9860-37FBEA1CA4F5}" type="datetimeFigureOut">
              <a:rPr lang="ko-KR" altLang="en-US" smtClean="0"/>
              <a:t>2025-12-20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5FE62B-07C8-48D9-A498-C02A91A5F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4E4F8D-0448-461C-B557-2020B615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0ADF-4005-4C94-8DEA-1DD573E72C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1881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5FDE74-FEDB-48B4-A47D-5444AEB74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8E54722-A921-4AA0-B759-E68ED3473E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FA954C-0990-4E2B-B5BB-CCFF596D3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CCB082-0EC0-43ED-9855-B3F7FA29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E390-F2F0-4A79-9860-37FBEA1CA4F5}" type="datetimeFigureOut">
              <a:rPr lang="ko-KR" altLang="en-US" smtClean="0"/>
              <a:t>2025-12-20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249291-984E-4FD3-9B5B-418FC93EF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F25A34-05B1-47B3-BBE1-D2275B465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0ADF-4005-4C94-8DEA-1DD573E72C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703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22C0FF-8A22-46D8-9428-7E42968D9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3C8CA6-3117-47C8-ABEC-9969F875A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403F0-1153-47AE-A2FE-1DA5C85E1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E390-F2F0-4A79-9860-37FBEA1CA4F5}" type="datetimeFigureOut">
              <a:rPr lang="ko-KR" altLang="en-US" smtClean="0"/>
              <a:t>2025-12-20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5A03C4-B362-4EB4-9B43-F5255B001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133F7E-C14A-4FCB-945F-C1E54595C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0ADF-4005-4C94-8DEA-1DD573E72C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7871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5191B36-64A9-43D6-9BD0-97C4EB4002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F44A85-49BE-4434-8A4C-75658A2AB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37FE1D-6C02-4F7F-8EF8-CF2F26570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E390-F2F0-4A79-9860-37FBEA1CA4F5}" type="datetimeFigureOut">
              <a:rPr lang="ko-KR" altLang="en-US" smtClean="0"/>
              <a:t>2025-12-20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0EC85E-1A12-4B93-B7CF-1935A6DE6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858233-88FD-4C81-AD11-B2227B1D1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0ADF-4005-4C94-8DEA-1DD573E72C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5099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7101328-6587-401E-ADA8-6B2D9EC6C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C61B37-F5F1-494B-B00D-1A0398833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4637B5-F02E-4120-821C-91E2800B58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3E390-F2F0-4A79-9860-37FBEA1CA4F5}" type="datetimeFigureOut">
              <a:rPr lang="ko-KR" altLang="en-US" smtClean="0"/>
              <a:t>2025-12-20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B3CAE7-80AB-47DE-BE58-7ACCA3EA7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46430C-88AD-48DE-9F3B-304DFB5FE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10ADF-4005-4C94-8DEA-1DD573E72C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449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D668197-176F-4E91-ABF1-0A53587C6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" y="369332"/>
            <a:ext cx="10911840" cy="32722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176F7A-A295-4757-B072-008932D08678}"/>
              </a:ext>
            </a:extLst>
          </p:cNvPr>
          <p:cNvSpPr txBox="1"/>
          <p:nvPr/>
        </p:nvSpPr>
        <p:spPr>
          <a:xfrm>
            <a:off x="0" y="0"/>
            <a:ext cx="256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revisi</a:t>
            </a:r>
            <a:r>
              <a:rPr lang="en-US" altLang="ko-KR" dirty="0"/>
              <a:t> ke-3</a:t>
            </a:r>
            <a:endParaRPr lang="ko-KR" altLang="en-US" dirty="0"/>
          </a:p>
        </p:txBody>
      </p:sp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33A9F368-B985-40EE-B8F7-19548A4E6E09}"/>
              </a:ext>
            </a:extLst>
          </p:cNvPr>
          <p:cNvSpPr/>
          <p:nvPr/>
        </p:nvSpPr>
        <p:spPr>
          <a:xfrm>
            <a:off x="1196340" y="3641616"/>
            <a:ext cx="2103120" cy="1113264"/>
          </a:xfrm>
          <a:prstGeom prst="wedgeRectCallout">
            <a:avLst>
              <a:gd name="adj1" fmla="val 57606"/>
              <a:gd name="adj2" fmla="val -1517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err="1"/>
              <a:t>Berkas</a:t>
            </a:r>
            <a:r>
              <a:rPr lang="en-US" altLang="ko-KR" sz="1050" dirty="0"/>
              <a:t> </a:t>
            </a:r>
            <a:r>
              <a:rPr lang="en-US" altLang="ko-KR" sz="1050" dirty="0" err="1"/>
              <a:t>terlampir</a:t>
            </a:r>
            <a:r>
              <a:rPr lang="en-US" altLang="ko-KR" sz="1050" dirty="0"/>
              <a:t> </a:t>
            </a:r>
            <a:r>
              <a:rPr lang="en-US" altLang="ko-KR" sz="1050" dirty="0" err="1"/>
              <a:t>tidak</a:t>
            </a:r>
            <a:r>
              <a:rPr lang="en-US" altLang="ko-KR" sz="1050" dirty="0"/>
              <a:t> </a:t>
            </a:r>
            <a:r>
              <a:rPr lang="en-US" altLang="ko-KR" sz="1050" dirty="0" err="1"/>
              <a:t>dapat</a:t>
            </a:r>
            <a:r>
              <a:rPr lang="en-US" altLang="ko-KR" sz="1050" dirty="0"/>
              <a:t> </a:t>
            </a:r>
            <a:r>
              <a:rPr lang="en-US" altLang="ko-KR" sz="1050" dirty="0" err="1"/>
              <a:t>diunggah</a:t>
            </a:r>
            <a:r>
              <a:rPr lang="en-US" altLang="ko-KR" sz="1050" dirty="0"/>
              <a:t>. </a:t>
            </a:r>
            <a:r>
              <a:rPr lang="en-US" altLang="ko-KR" sz="1050" dirty="0" err="1"/>
              <a:t>Silakan</a:t>
            </a:r>
            <a:r>
              <a:rPr lang="en-US" altLang="ko-KR" sz="1050" dirty="0"/>
              <a:t> </a:t>
            </a:r>
            <a:r>
              <a:rPr lang="en-US" altLang="ko-KR" sz="1050" dirty="0" err="1"/>
              <a:t>periksa</a:t>
            </a:r>
            <a:r>
              <a:rPr lang="en-US" altLang="ko-KR" sz="1050" dirty="0"/>
              <a:t> </a:t>
            </a:r>
            <a:r>
              <a:rPr lang="en-US" altLang="ko-KR" sz="1050" dirty="0" err="1"/>
              <a:t>lagi</a:t>
            </a:r>
            <a:r>
              <a:rPr lang="en-US" altLang="ko-KR" sz="1050" dirty="0"/>
              <a:t>.</a:t>
            </a:r>
          </a:p>
          <a:p>
            <a:pPr algn="ctr"/>
            <a:endParaRPr lang="en-US" altLang="ko-KR" sz="1050" dirty="0"/>
          </a:p>
          <a:p>
            <a:pPr algn="ctr"/>
            <a:r>
              <a:rPr lang="en-US" altLang="ko-KR" sz="1050" dirty="0"/>
              <a:t>Sebagian </a:t>
            </a:r>
            <a:r>
              <a:rPr lang="en-US" altLang="ko-KR" sz="1050" dirty="0" err="1"/>
              <a:t>besar</a:t>
            </a:r>
            <a:r>
              <a:rPr lang="en-US" altLang="ko-KR" sz="1050" dirty="0"/>
              <a:t> </a:t>
            </a:r>
            <a:r>
              <a:rPr lang="en-US" altLang="ko-KR" sz="1050" dirty="0" err="1"/>
              <a:t>berupa</a:t>
            </a:r>
            <a:r>
              <a:rPr lang="en-US" altLang="ko-KR" sz="1050" dirty="0"/>
              <a:t> </a:t>
            </a:r>
            <a:r>
              <a:rPr lang="en-US" altLang="ko-KR" sz="1050" dirty="0" err="1"/>
              <a:t>berkas</a:t>
            </a:r>
            <a:r>
              <a:rPr lang="en-US" altLang="ko-KR" sz="1050" dirty="0"/>
              <a:t> PPT, </a:t>
            </a:r>
            <a:r>
              <a:rPr lang="en-US" altLang="ko-KR" sz="1050" dirty="0" err="1"/>
              <a:t>tetapi</a:t>
            </a:r>
            <a:r>
              <a:rPr lang="en-US" altLang="ko-KR" sz="1050" dirty="0"/>
              <a:t> </a:t>
            </a:r>
            <a:r>
              <a:rPr lang="en-US" altLang="ko-KR" sz="1050" dirty="0" err="1"/>
              <a:t>beberapa</a:t>
            </a:r>
            <a:r>
              <a:rPr lang="en-US" altLang="ko-KR" sz="1050" dirty="0"/>
              <a:t> </a:t>
            </a:r>
            <a:r>
              <a:rPr lang="en-US" altLang="ko-KR" sz="1050" dirty="0" err="1"/>
              <a:t>berupa</a:t>
            </a:r>
            <a:r>
              <a:rPr lang="en-US" altLang="ko-KR" sz="1050" dirty="0"/>
              <a:t> </a:t>
            </a:r>
            <a:r>
              <a:rPr lang="en-US" altLang="ko-KR" sz="1050" dirty="0" err="1"/>
              <a:t>berkas</a:t>
            </a:r>
            <a:r>
              <a:rPr lang="en-US" altLang="ko-KR" sz="1050" dirty="0"/>
              <a:t> PDF </a:t>
            </a:r>
            <a:r>
              <a:rPr lang="en-US" altLang="ko-KR" sz="1050" dirty="0" err="1"/>
              <a:t>atau</a:t>
            </a:r>
            <a:r>
              <a:rPr lang="en-US" altLang="ko-KR" sz="1050" dirty="0"/>
              <a:t> Excel.</a:t>
            </a:r>
            <a:endParaRPr lang="ko-KR" altLang="en-US" sz="1050" dirty="0"/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ACFE7985-2874-4AA3-BB7D-193F92F63817}"/>
              </a:ext>
            </a:extLst>
          </p:cNvPr>
          <p:cNvSpPr/>
          <p:nvPr/>
        </p:nvSpPr>
        <p:spPr>
          <a:xfrm>
            <a:off x="53339" y="5454316"/>
            <a:ext cx="1390449" cy="1403684"/>
          </a:xfrm>
          <a:prstGeom prst="donu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909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EBB0CCE-9A2D-46ED-9F68-2EAAA481C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040"/>
            <a:ext cx="7795260" cy="3080649"/>
          </a:xfrm>
          <a:prstGeom prst="rect">
            <a:avLst/>
          </a:prstGeom>
        </p:spPr>
      </p:pic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20F8A443-806D-4994-A7F8-BCE2C57E64EC}"/>
              </a:ext>
            </a:extLst>
          </p:cNvPr>
          <p:cNvSpPr/>
          <p:nvPr/>
        </p:nvSpPr>
        <p:spPr>
          <a:xfrm>
            <a:off x="198120" y="3641616"/>
            <a:ext cx="3101340" cy="1014204"/>
          </a:xfrm>
          <a:prstGeom prst="wedgeRectCallout">
            <a:avLst>
              <a:gd name="adj1" fmla="val -41805"/>
              <a:gd name="adj2" fmla="val -2743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Kami </a:t>
            </a:r>
            <a:r>
              <a:rPr lang="en-US" altLang="ko-KR" sz="800" dirty="0" err="1"/>
              <a:t>beralih</a:t>
            </a:r>
            <a:r>
              <a:rPr lang="en-US" altLang="ko-KR" sz="800" dirty="0"/>
              <a:t> </a:t>
            </a:r>
            <a:r>
              <a:rPr lang="en-US" altLang="ko-KR" sz="800" dirty="0" err="1"/>
              <a:t>dari</a:t>
            </a:r>
            <a:r>
              <a:rPr lang="en-US" altLang="ko-KR" sz="800" dirty="0"/>
              <a:t> </a:t>
            </a:r>
            <a:r>
              <a:rPr lang="en-US" altLang="ko-KR" sz="800" dirty="0" err="1"/>
              <a:t>berbasis</a:t>
            </a:r>
            <a:r>
              <a:rPr lang="en-US" altLang="ko-KR" sz="800" dirty="0"/>
              <a:t> model </a:t>
            </a:r>
            <a:r>
              <a:rPr lang="en-US" altLang="ko-KR" sz="800" dirty="0" err="1"/>
              <a:t>ke</a:t>
            </a:r>
            <a:r>
              <a:rPr lang="en-US" altLang="ko-KR" sz="800" dirty="0"/>
              <a:t> </a:t>
            </a:r>
            <a:r>
              <a:rPr lang="en-US" altLang="ko-KR" sz="800" dirty="0" err="1"/>
              <a:t>berbasis</a:t>
            </a:r>
            <a:r>
              <a:rPr lang="en-US" altLang="ko-KR" sz="800" dirty="0"/>
              <a:t> ECO.</a:t>
            </a:r>
          </a:p>
          <a:p>
            <a:pPr algn="ctr"/>
            <a:endParaRPr lang="en-US" altLang="ko-KR" sz="800" dirty="0"/>
          </a:p>
          <a:p>
            <a:pPr algn="ctr"/>
            <a:r>
              <a:rPr lang="en-US" altLang="ko-KR" sz="800" dirty="0"/>
              <a:t>Hal </a:t>
            </a:r>
            <a:r>
              <a:rPr lang="en-US" altLang="ko-KR" sz="800" dirty="0" err="1"/>
              <a:t>ini</a:t>
            </a:r>
            <a:r>
              <a:rPr lang="en-US" altLang="ko-KR" sz="800" dirty="0"/>
              <a:t> </a:t>
            </a:r>
            <a:r>
              <a:rPr lang="en-US" altLang="ko-KR" sz="800" dirty="0" err="1"/>
              <a:t>karena</a:t>
            </a:r>
            <a:r>
              <a:rPr lang="en-US" altLang="ko-KR" sz="800" dirty="0"/>
              <a:t> </a:t>
            </a:r>
            <a:r>
              <a:rPr lang="en-US" altLang="ko-KR" sz="800" dirty="0" err="1"/>
              <a:t>meskipun</a:t>
            </a:r>
            <a:r>
              <a:rPr lang="en-US" altLang="ko-KR" sz="800" dirty="0"/>
              <a:t> ECO </a:t>
            </a:r>
            <a:r>
              <a:rPr lang="en-US" altLang="ko-KR" sz="800" dirty="0" err="1"/>
              <a:t>merupakan</a:t>
            </a:r>
            <a:r>
              <a:rPr lang="en-US" altLang="ko-KR" sz="800" dirty="0"/>
              <a:t> </a:t>
            </a:r>
            <a:r>
              <a:rPr lang="en-US" altLang="ko-KR" sz="800" dirty="0" err="1"/>
              <a:t>standar</a:t>
            </a:r>
            <a:r>
              <a:rPr lang="en-US" altLang="ko-KR" sz="800" dirty="0"/>
              <a:t> </a:t>
            </a:r>
            <a:r>
              <a:rPr lang="en-US" altLang="ko-KR" sz="800" dirty="0" err="1"/>
              <a:t>tunggal</a:t>
            </a:r>
            <a:r>
              <a:rPr lang="en-US" altLang="ko-KR" sz="800" dirty="0"/>
              <a:t>, model dan </a:t>
            </a:r>
            <a:r>
              <a:rPr lang="en-US" altLang="ko-KR" sz="800" dirty="0" err="1"/>
              <a:t>materialnya</a:t>
            </a:r>
            <a:r>
              <a:rPr lang="en-US" altLang="ko-KR" sz="800" dirty="0"/>
              <a:t> </a:t>
            </a:r>
            <a:r>
              <a:rPr lang="en-US" altLang="ko-KR" sz="800" dirty="0" err="1"/>
              <a:t>dapat</a:t>
            </a:r>
            <a:r>
              <a:rPr lang="en-US" altLang="ko-KR" sz="800" dirty="0"/>
              <a:t> </a:t>
            </a:r>
            <a:r>
              <a:rPr lang="en-US" altLang="ko-KR" sz="800" dirty="0" err="1"/>
              <a:t>bervariasi</a:t>
            </a:r>
            <a:r>
              <a:rPr lang="en-US" altLang="ko-KR" sz="800" dirty="0"/>
              <a:t>.</a:t>
            </a:r>
          </a:p>
          <a:p>
            <a:pPr algn="ctr"/>
            <a:r>
              <a:rPr lang="ko-KR" altLang="en-US" sz="800" dirty="0"/>
              <a:t>우리는 모델 기반에서 </a:t>
            </a:r>
            <a:r>
              <a:rPr lang="en-US" altLang="ko-KR" sz="800" dirty="0"/>
              <a:t>ECO </a:t>
            </a:r>
            <a:r>
              <a:rPr lang="ko-KR" altLang="en-US" sz="800" dirty="0"/>
              <a:t>기반으로 전환하고 있습니다</a:t>
            </a:r>
            <a:r>
              <a:rPr lang="en-US" altLang="ko-KR" sz="800" dirty="0"/>
              <a:t>.</a:t>
            </a:r>
            <a:r>
              <a:rPr lang="ko-KR" altLang="en-US" sz="800" dirty="0"/>
              <a:t>이는 </a:t>
            </a:r>
            <a:r>
              <a:rPr lang="en-US" altLang="ko-KR" sz="800" dirty="0"/>
              <a:t>ECO</a:t>
            </a:r>
            <a:r>
              <a:rPr lang="ko-KR" altLang="en-US" sz="800" dirty="0"/>
              <a:t>가 단일 표준인 반면</a:t>
            </a:r>
            <a:r>
              <a:rPr lang="en-US" altLang="ko-KR" sz="800" dirty="0"/>
              <a:t>, </a:t>
            </a:r>
            <a:r>
              <a:rPr lang="ko-KR" altLang="en-US" sz="800" dirty="0"/>
              <a:t>모델과 재료는 다양할 수 있기 때문입니다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8C675D0-73BC-48F5-AEB2-68A85984068F}"/>
              </a:ext>
            </a:extLst>
          </p:cNvPr>
          <p:cNvCxnSpPr/>
          <p:nvPr/>
        </p:nvCxnSpPr>
        <p:spPr>
          <a:xfrm>
            <a:off x="283369" y="1226344"/>
            <a:ext cx="357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C23131-D543-4A5A-BB0F-0507FECCC5FF}"/>
              </a:ext>
            </a:extLst>
          </p:cNvPr>
          <p:cNvSpPr/>
          <p:nvPr/>
        </p:nvSpPr>
        <p:spPr>
          <a:xfrm>
            <a:off x="659605" y="1181099"/>
            <a:ext cx="583407" cy="147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IN ECO</a:t>
            </a:r>
            <a:endParaRPr lang="ko-KR" altLang="en-US" sz="7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051C1E-3C00-42B3-9059-44366A7115FC}"/>
              </a:ext>
            </a:extLst>
          </p:cNvPr>
          <p:cNvSpPr/>
          <p:nvPr/>
        </p:nvSpPr>
        <p:spPr>
          <a:xfrm>
            <a:off x="640556" y="1477313"/>
            <a:ext cx="464344" cy="114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Model</a:t>
            </a:r>
            <a:endParaRPr lang="ko-KR" altLang="en-US" sz="700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E4204B5-E4AC-4C20-8CBA-605054EA8F65}"/>
              </a:ext>
            </a:extLst>
          </p:cNvPr>
          <p:cNvCxnSpPr/>
          <p:nvPr/>
        </p:nvCxnSpPr>
        <p:spPr>
          <a:xfrm>
            <a:off x="283369" y="1527319"/>
            <a:ext cx="357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4590AD6-140B-49B0-B79C-151EE6DC1FC0}"/>
              </a:ext>
            </a:extLst>
          </p:cNvPr>
          <p:cNvCxnSpPr/>
          <p:nvPr/>
        </p:nvCxnSpPr>
        <p:spPr>
          <a:xfrm>
            <a:off x="4379119" y="1226344"/>
            <a:ext cx="357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62F7F3B-0DF6-4C6F-B94E-6C3D6C65C750}"/>
              </a:ext>
            </a:extLst>
          </p:cNvPr>
          <p:cNvSpPr/>
          <p:nvPr/>
        </p:nvSpPr>
        <p:spPr>
          <a:xfrm>
            <a:off x="4755355" y="1181099"/>
            <a:ext cx="583407" cy="147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Kr ECO</a:t>
            </a:r>
            <a:endParaRPr lang="ko-KR" altLang="en-US" sz="7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42E41F1-CE6D-43A5-9BE8-438718F74C2C}"/>
              </a:ext>
            </a:extLst>
          </p:cNvPr>
          <p:cNvCxnSpPr/>
          <p:nvPr/>
        </p:nvCxnSpPr>
        <p:spPr>
          <a:xfrm>
            <a:off x="4312444" y="1506820"/>
            <a:ext cx="357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A00BBC8-1F2A-4F79-A7A3-8B6362429458}"/>
              </a:ext>
            </a:extLst>
          </p:cNvPr>
          <p:cNvSpPr/>
          <p:nvPr/>
        </p:nvSpPr>
        <p:spPr>
          <a:xfrm>
            <a:off x="4688680" y="1461575"/>
            <a:ext cx="873920" cy="147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Product name</a:t>
            </a:r>
            <a:endParaRPr lang="ko-KR" altLang="en-US" sz="7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3E4DFA7-C6A3-480C-970E-882914F7E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460" y="3856644"/>
            <a:ext cx="7795260" cy="2337672"/>
          </a:xfrm>
          <a:prstGeom prst="rect">
            <a:avLst/>
          </a:prstGeom>
        </p:spPr>
      </p:pic>
      <p:sp>
        <p:nvSpPr>
          <p:cNvPr id="18" name="화살표: 왼쪽으로 구부러짐 17">
            <a:extLst>
              <a:ext uri="{FF2B5EF4-FFF2-40B4-BE49-F238E27FC236}">
                <a16:creationId xmlns:a16="http://schemas.microsoft.com/office/drawing/2014/main" id="{2D6ED081-6830-4B52-877F-45A087D1AA41}"/>
              </a:ext>
            </a:extLst>
          </p:cNvPr>
          <p:cNvSpPr/>
          <p:nvPr/>
        </p:nvSpPr>
        <p:spPr>
          <a:xfrm rot="16200000" flipV="1">
            <a:off x="6948490" y="4222431"/>
            <a:ext cx="623888" cy="86677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화살표: 왼쪽으로 구부러짐 18">
            <a:extLst>
              <a:ext uri="{FF2B5EF4-FFF2-40B4-BE49-F238E27FC236}">
                <a16:creationId xmlns:a16="http://schemas.microsoft.com/office/drawing/2014/main" id="{14A51A66-1A44-4EC1-AAD2-DB9752F6B874}"/>
              </a:ext>
            </a:extLst>
          </p:cNvPr>
          <p:cNvSpPr/>
          <p:nvPr/>
        </p:nvSpPr>
        <p:spPr>
          <a:xfrm rot="16200000" flipV="1">
            <a:off x="7339015" y="4222430"/>
            <a:ext cx="623888" cy="86677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EBF7D6-17B4-4FB8-85C5-B9FE19AC37A4}"/>
              </a:ext>
            </a:extLst>
          </p:cNvPr>
          <p:cNvSpPr txBox="1"/>
          <p:nvPr/>
        </p:nvSpPr>
        <p:spPr>
          <a:xfrm>
            <a:off x="7959090" y="44125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Ubah</a:t>
            </a:r>
            <a:r>
              <a:rPr lang="ko-KR" altLang="en-US" dirty="0"/>
              <a:t> </a:t>
            </a:r>
            <a:r>
              <a:rPr lang="ko-KR" altLang="en-US" dirty="0" err="1"/>
              <a:t>lokasi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D53A85-1B89-4069-B17F-C12AE70D1F09}"/>
              </a:ext>
            </a:extLst>
          </p:cNvPr>
          <p:cNvSpPr txBox="1"/>
          <p:nvPr/>
        </p:nvSpPr>
        <p:spPr>
          <a:xfrm>
            <a:off x="0" y="0"/>
            <a:ext cx="256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revisi</a:t>
            </a:r>
            <a:r>
              <a:rPr lang="en-US" altLang="ko-KR" dirty="0"/>
              <a:t> ke-3</a:t>
            </a:r>
            <a:endParaRPr lang="ko-KR" altLang="en-US" dirty="0"/>
          </a:p>
        </p:txBody>
      </p:sp>
      <p:sp>
        <p:nvSpPr>
          <p:cNvPr id="20" name="Circle: Hollow 19">
            <a:extLst>
              <a:ext uri="{FF2B5EF4-FFF2-40B4-BE49-F238E27FC236}">
                <a16:creationId xmlns:a16="http://schemas.microsoft.com/office/drawing/2014/main" id="{146E90E9-04A0-49CC-87F3-DA670A6947AC}"/>
              </a:ext>
            </a:extLst>
          </p:cNvPr>
          <p:cNvSpPr/>
          <p:nvPr/>
        </p:nvSpPr>
        <p:spPr>
          <a:xfrm>
            <a:off x="53339" y="5454316"/>
            <a:ext cx="1390449" cy="1403684"/>
          </a:xfrm>
          <a:prstGeom prst="donu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295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EBB0CCE-9A2D-46ED-9F68-2EAAA481C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490" y="159040"/>
            <a:ext cx="7795260" cy="3080649"/>
          </a:xfrm>
          <a:prstGeom prst="rect">
            <a:avLst/>
          </a:prstGeom>
        </p:spPr>
      </p:pic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20F8A443-806D-4994-A7F8-BCE2C57E64EC}"/>
              </a:ext>
            </a:extLst>
          </p:cNvPr>
          <p:cNvSpPr/>
          <p:nvPr/>
        </p:nvSpPr>
        <p:spPr>
          <a:xfrm>
            <a:off x="2723610" y="3641616"/>
            <a:ext cx="2135773" cy="442704"/>
          </a:xfrm>
          <a:prstGeom prst="wedgeRectCallout">
            <a:avLst>
              <a:gd name="adj1" fmla="val -33922"/>
              <a:gd name="adj2" fmla="val -5028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Masukkan </a:t>
            </a:r>
            <a:r>
              <a:rPr lang="en-US" altLang="ko-KR" sz="800" dirty="0" err="1"/>
              <a:t>beberapa</a:t>
            </a:r>
            <a:r>
              <a:rPr lang="en-US" altLang="ko-KR" sz="800" dirty="0"/>
              <a:t> model</a:t>
            </a:r>
          </a:p>
          <a:p>
            <a:pPr algn="ctr"/>
            <a:r>
              <a:rPr lang="ko-KR" altLang="en-US" sz="800" dirty="0"/>
              <a:t>여러 모델을 입력하세요</a:t>
            </a:r>
            <a:r>
              <a:rPr lang="en-US" altLang="ko-KR" sz="800" dirty="0"/>
              <a:t>v</a:t>
            </a:r>
            <a:endParaRPr lang="ko-KR" altLang="en-US" sz="800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8C675D0-73BC-48F5-AEB2-68A85984068F}"/>
              </a:ext>
            </a:extLst>
          </p:cNvPr>
          <p:cNvCxnSpPr/>
          <p:nvPr/>
        </p:nvCxnSpPr>
        <p:spPr>
          <a:xfrm>
            <a:off x="2808859" y="1226344"/>
            <a:ext cx="357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C23131-D543-4A5A-BB0F-0507FECCC5FF}"/>
              </a:ext>
            </a:extLst>
          </p:cNvPr>
          <p:cNvSpPr/>
          <p:nvPr/>
        </p:nvSpPr>
        <p:spPr>
          <a:xfrm>
            <a:off x="3185095" y="1181099"/>
            <a:ext cx="583407" cy="147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IN ECO</a:t>
            </a:r>
            <a:endParaRPr lang="ko-KR" altLang="en-US" sz="7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051C1E-3C00-42B3-9059-44366A7115FC}"/>
              </a:ext>
            </a:extLst>
          </p:cNvPr>
          <p:cNvSpPr/>
          <p:nvPr/>
        </p:nvSpPr>
        <p:spPr>
          <a:xfrm>
            <a:off x="3166046" y="1477313"/>
            <a:ext cx="464344" cy="114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Model</a:t>
            </a:r>
            <a:endParaRPr lang="ko-KR" altLang="en-US" sz="700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E4204B5-E4AC-4C20-8CBA-605054EA8F65}"/>
              </a:ext>
            </a:extLst>
          </p:cNvPr>
          <p:cNvCxnSpPr/>
          <p:nvPr/>
        </p:nvCxnSpPr>
        <p:spPr>
          <a:xfrm>
            <a:off x="2808859" y="1527319"/>
            <a:ext cx="357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4590AD6-140B-49B0-B79C-151EE6DC1FC0}"/>
              </a:ext>
            </a:extLst>
          </p:cNvPr>
          <p:cNvCxnSpPr/>
          <p:nvPr/>
        </p:nvCxnSpPr>
        <p:spPr>
          <a:xfrm>
            <a:off x="6904609" y="1226344"/>
            <a:ext cx="357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62F7F3B-0DF6-4C6F-B94E-6C3D6C65C750}"/>
              </a:ext>
            </a:extLst>
          </p:cNvPr>
          <p:cNvSpPr/>
          <p:nvPr/>
        </p:nvSpPr>
        <p:spPr>
          <a:xfrm>
            <a:off x="7280845" y="1181099"/>
            <a:ext cx="583407" cy="147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Kr ECO</a:t>
            </a:r>
            <a:endParaRPr lang="ko-KR" altLang="en-US" sz="7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42E41F1-CE6D-43A5-9BE8-438718F74C2C}"/>
              </a:ext>
            </a:extLst>
          </p:cNvPr>
          <p:cNvCxnSpPr/>
          <p:nvPr/>
        </p:nvCxnSpPr>
        <p:spPr>
          <a:xfrm>
            <a:off x="6837934" y="1506820"/>
            <a:ext cx="357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A00BBC8-1F2A-4F79-A7A3-8B6362429458}"/>
              </a:ext>
            </a:extLst>
          </p:cNvPr>
          <p:cNvSpPr/>
          <p:nvPr/>
        </p:nvSpPr>
        <p:spPr>
          <a:xfrm>
            <a:off x="7214170" y="1461575"/>
            <a:ext cx="873920" cy="147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Product name</a:t>
            </a:r>
            <a:endParaRPr lang="ko-KR" altLang="en-US" sz="7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3E4DFA7-C6A3-480C-970E-882914F7EC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8750"/>
          <a:stretch/>
        </p:blipFill>
        <p:spPr>
          <a:xfrm>
            <a:off x="7214170" y="3474919"/>
            <a:ext cx="4774630" cy="23376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6BF004-8A40-42D3-A704-A9929609BA3F}"/>
              </a:ext>
            </a:extLst>
          </p:cNvPr>
          <p:cNvSpPr txBox="1"/>
          <p:nvPr/>
        </p:nvSpPr>
        <p:spPr>
          <a:xfrm>
            <a:off x="60960" y="388107"/>
            <a:ext cx="2107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Contoh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1B8BF8-CB3A-471C-A06F-202584AB238D}"/>
              </a:ext>
            </a:extLst>
          </p:cNvPr>
          <p:cNvSpPr txBox="1"/>
          <p:nvPr/>
        </p:nvSpPr>
        <p:spPr>
          <a:xfrm>
            <a:off x="60960" y="696686"/>
            <a:ext cx="255630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ECO : KLEM200003</a:t>
            </a:r>
          </a:p>
          <a:p>
            <a:endParaRPr lang="en-US" altLang="ko-KR" sz="700" dirty="0"/>
          </a:p>
          <a:p>
            <a:r>
              <a:rPr lang="en-US" altLang="ko-KR" sz="700" dirty="0" err="1"/>
              <a:t>Perubahan</a:t>
            </a:r>
            <a:r>
              <a:rPr lang="en-US" altLang="ko-KR" sz="700" dirty="0"/>
              <a:t> Manual</a:t>
            </a:r>
          </a:p>
          <a:p>
            <a:endParaRPr lang="en-US" altLang="ko-KR" sz="700" dirty="0"/>
          </a:p>
          <a:p>
            <a:r>
              <a:rPr lang="en-US" altLang="ko-KR" sz="700" dirty="0"/>
              <a:t>Manual A --&gt; Manual A-1</a:t>
            </a:r>
          </a:p>
          <a:p>
            <a:r>
              <a:rPr lang="en-US" altLang="ko-KR" sz="700" dirty="0"/>
              <a:t>Manual B --&gt; Manual B-1</a:t>
            </a:r>
          </a:p>
          <a:p>
            <a:endParaRPr lang="en-US" altLang="ko-KR" sz="700" dirty="0"/>
          </a:p>
          <a:p>
            <a:r>
              <a:rPr lang="en-US" altLang="ko-KR" sz="700" dirty="0"/>
              <a:t>Manual C --&gt; Manual C-1</a:t>
            </a:r>
          </a:p>
          <a:p>
            <a:endParaRPr lang="en-US" altLang="ko-KR" sz="700" dirty="0"/>
          </a:p>
          <a:p>
            <a:r>
              <a:rPr lang="en-US" altLang="ko-KR" sz="700" dirty="0"/>
              <a:t>Model yang </a:t>
            </a:r>
            <a:r>
              <a:rPr lang="en-US" altLang="ko-KR" sz="700" dirty="0" err="1"/>
              <a:t>Berlaku</a:t>
            </a:r>
            <a:endParaRPr lang="en-US" altLang="ko-KR" sz="700" dirty="0"/>
          </a:p>
          <a:p>
            <a:r>
              <a:rPr lang="en-US" altLang="ko-KR" sz="700" dirty="0" err="1"/>
              <a:t>Sampul</a:t>
            </a:r>
            <a:r>
              <a:rPr lang="en-US" altLang="ko-KR" sz="700" dirty="0"/>
              <a:t> </a:t>
            </a:r>
            <a:r>
              <a:rPr lang="en-US" altLang="ko-KR" sz="700" dirty="0" err="1"/>
              <a:t>Belakang</a:t>
            </a:r>
            <a:r>
              <a:rPr lang="en-US" altLang="ko-KR" sz="700" dirty="0"/>
              <a:t> 55C2</a:t>
            </a:r>
          </a:p>
          <a:p>
            <a:r>
              <a:rPr lang="en-US" altLang="ko-KR" sz="700" dirty="0" err="1"/>
              <a:t>Sampul</a:t>
            </a:r>
            <a:r>
              <a:rPr lang="en-US" altLang="ko-KR" sz="700" dirty="0"/>
              <a:t> </a:t>
            </a:r>
            <a:r>
              <a:rPr lang="en-US" altLang="ko-KR" sz="700" dirty="0" err="1"/>
              <a:t>Belakang</a:t>
            </a:r>
            <a:r>
              <a:rPr lang="en-US" altLang="ko-KR" sz="700" dirty="0"/>
              <a:t> 65C2</a:t>
            </a:r>
          </a:p>
          <a:p>
            <a:r>
              <a:rPr lang="en-US" altLang="ko-KR" sz="700" dirty="0" err="1"/>
              <a:t>Sampul</a:t>
            </a:r>
            <a:r>
              <a:rPr lang="en-US" altLang="ko-KR" sz="700" dirty="0"/>
              <a:t> </a:t>
            </a:r>
            <a:r>
              <a:rPr lang="en-US" altLang="ko-KR" sz="700" dirty="0" err="1"/>
              <a:t>Belakang</a:t>
            </a:r>
            <a:r>
              <a:rPr lang="en-US" altLang="ko-KR" sz="700" dirty="0"/>
              <a:t> 42C2</a:t>
            </a:r>
          </a:p>
          <a:p>
            <a:endParaRPr lang="en-US" altLang="ko-KR" sz="700" dirty="0"/>
          </a:p>
          <a:p>
            <a:r>
              <a:rPr lang="en-US" altLang="ko-KR" sz="700" dirty="0"/>
              <a:t>Manual yang </a:t>
            </a:r>
            <a:r>
              <a:rPr lang="en-US" altLang="ko-KR" sz="700" dirty="0" err="1"/>
              <a:t>telah</a:t>
            </a:r>
            <a:r>
              <a:rPr lang="en-US" altLang="ko-KR" sz="700" dirty="0"/>
              <a:t> </a:t>
            </a:r>
            <a:r>
              <a:rPr lang="en-US" altLang="ko-KR" sz="700" dirty="0" err="1"/>
              <a:t>diubah</a:t>
            </a:r>
            <a:r>
              <a:rPr lang="en-US" altLang="ko-KR" sz="700" dirty="0"/>
              <a:t> </a:t>
            </a:r>
            <a:r>
              <a:rPr lang="en-US" altLang="ko-KR" sz="700" dirty="0" err="1"/>
              <a:t>tersedia</a:t>
            </a:r>
            <a:r>
              <a:rPr lang="en-US" altLang="ko-KR" sz="700" dirty="0"/>
              <a:t> </a:t>
            </a:r>
            <a:r>
              <a:rPr lang="en-US" altLang="ko-KR" sz="700" dirty="0" err="1"/>
              <a:t>mulai</a:t>
            </a:r>
            <a:r>
              <a:rPr lang="en-US" altLang="ko-KR" sz="700" dirty="0"/>
              <a:t> </a:t>
            </a:r>
            <a:r>
              <a:rPr lang="en-US" altLang="ko-KR" sz="700" dirty="0" err="1"/>
              <a:t>Februari</a:t>
            </a:r>
            <a:r>
              <a:rPr lang="en-US" altLang="ko-KR" sz="700" dirty="0"/>
              <a:t> 2026</a:t>
            </a:r>
          </a:p>
          <a:p>
            <a:r>
              <a:rPr lang="ko-KR" altLang="en-US" sz="700" dirty="0"/>
              <a:t>매뉴얼 변경</a:t>
            </a:r>
          </a:p>
          <a:p>
            <a:endParaRPr lang="ko-KR" altLang="en-US" sz="700" dirty="0"/>
          </a:p>
          <a:p>
            <a:r>
              <a:rPr lang="ko-KR" altLang="en-US" sz="700" dirty="0"/>
              <a:t>매뉴얼 </a:t>
            </a:r>
            <a:r>
              <a:rPr lang="en-US" altLang="ko-KR" sz="700" dirty="0"/>
              <a:t>A --&gt; </a:t>
            </a:r>
            <a:r>
              <a:rPr lang="ko-KR" altLang="en-US" sz="700" dirty="0"/>
              <a:t>매뉴얼 </a:t>
            </a:r>
            <a:r>
              <a:rPr lang="en-US" altLang="ko-KR" sz="700" dirty="0"/>
              <a:t>A-1</a:t>
            </a:r>
          </a:p>
          <a:p>
            <a:r>
              <a:rPr lang="ko-KR" altLang="en-US" sz="700" dirty="0"/>
              <a:t>매뉴얼 </a:t>
            </a:r>
            <a:r>
              <a:rPr lang="en-US" altLang="ko-KR" sz="700" dirty="0"/>
              <a:t>B --&gt; </a:t>
            </a:r>
            <a:r>
              <a:rPr lang="ko-KR" altLang="en-US" sz="700" dirty="0"/>
              <a:t>매뉴얼 </a:t>
            </a:r>
            <a:r>
              <a:rPr lang="en-US" altLang="ko-KR" sz="700" dirty="0"/>
              <a:t>B-1</a:t>
            </a:r>
          </a:p>
          <a:p>
            <a:endParaRPr lang="en-US" altLang="ko-KR" sz="700" dirty="0"/>
          </a:p>
          <a:p>
            <a:r>
              <a:rPr lang="ko-KR" altLang="en-US" sz="700" dirty="0"/>
              <a:t>매뉴얼 </a:t>
            </a:r>
            <a:r>
              <a:rPr lang="en-US" altLang="ko-KR" sz="700" dirty="0"/>
              <a:t>C --&gt; </a:t>
            </a:r>
            <a:r>
              <a:rPr lang="ko-KR" altLang="en-US" sz="700" dirty="0"/>
              <a:t>매뉴얼 </a:t>
            </a:r>
            <a:r>
              <a:rPr lang="en-US" altLang="ko-KR" sz="700" dirty="0"/>
              <a:t>C-1</a:t>
            </a:r>
          </a:p>
          <a:p>
            <a:endParaRPr lang="en-US" altLang="ko-KR" sz="700" dirty="0"/>
          </a:p>
          <a:p>
            <a:r>
              <a:rPr lang="ko-KR" altLang="en-US" sz="700" dirty="0"/>
              <a:t>적용 모델</a:t>
            </a:r>
          </a:p>
          <a:p>
            <a:r>
              <a:rPr lang="ko-KR" altLang="en-US" sz="700" dirty="0"/>
              <a:t>뒷면 표지 </a:t>
            </a:r>
            <a:r>
              <a:rPr lang="en-US" altLang="ko-KR" sz="700" dirty="0"/>
              <a:t>55C2</a:t>
            </a:r>
          </a:p>
          <a:p>
            <a:r>
              <a:rPr lang="ko-KR" altLang="en-US" sz="700" dirty="0"/>
              <a:t>뒷면 표지 </a:t>
            </a:r>
            <a:r>
              <a:rPr lang="en-US" altLang="ko-KR" sz="700" dirty="0"/>
              <a:t>65C2</a:t>
            </a:r>
          </a:p>
          <a:p>
            <a:r>
              <a:rPr lang="ko-KR" altLang="en-US" sz="700" dirty="0"/>
              <a:t>뒷면 표지 </a:t>
            </a:r>
            <a:r>
              <a:rPr lang="en-US" altLang="ko-KR" sz="700" dirty="0"/>
              <a:t>42C2</a:t>
            </a:r>
          </a:p>
          <a:p>
            <a:endParaRPr lang="en-US" altLang="ko-KR" sz="700" dirty="0"/>
          </a:p>
          <a:p>
            <a:r>
              <a:rPr lang="ko-KR" altLang="en-US" sz="700" dirty="0"/>
              <a:t>개정된 매뉴얼은 </a:t>
            </a:r>
            <a:r>
              <a:rPr lang="en-US" altLang="ko-KR" sz="700" dirty="0"/>
              <a:t>2026</a:t>
            </a:r>
            <a:r>
              <a:rPr lang="ko-KR" altLang="en-US" sz="700" dirty="0"/>
              <a:t>년 </a:t>
            </a:r>
            <a:r>
              <a:rPr lang="en-US" altLang="ko-KR" sz="700" dirty="0"/>
              <a:t>2</a:t>
            </a:r>
            <a:r>
              <a:rPr lang="ko-KR" altLang="en-US" sz="700" dirty="0"/>
              <a:t>월부터 제공됩니다</a:t>
            </a:r>
            <a:r>
              <a:rPr lang="en-US" altLang="ko-KR" sz="700" dirty="0"/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C5B400-0BAA-46C4-AA1E-99347E1981F5}"/>
              </a:ext>
            </a:extLst>
          </p:cNvPr>
          <p:cNvSpPr/>
          <p:nvPr/>
        </p:nvSpPr>
        <p:spPr>
          <a:xfrm>
            <a:off x="3134283" y="1637937"/>
            <a:ext cx="583407" cy="147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55C2</a:t>
            </a:r>
            <a:endParaRPr lang="ko-KR" altLang="en-US" sz="8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8CC92EA-4F87-4BBE-B930-FB1945692BEE}"/>
              </a:ext>
            </a:extLst>
          </p:cNvPr>
          <p:cNvSpPr/>
          <p:nvPr/>
        </p:nvSpPr>
        <p:spPr>
          <a:xfrm>
            <a:off x="3820797" y="1637936"/>
            <a:ext cx="583407" cy="147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65C2</a:t>
            </a:r>
            <a:endParaRPr lang="ko-KR" altLang="en-US" sz="8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A5AE8EE-5BB0-4792-A927-E2847B0B04FC}"/>
              </a:ext>
            </a:extLst>
          </p:cNvPr>
          <p:cNvSpPr/>
          <p:nvPr/>
        </p:nvSpPr>
        <p:spPr>
          <a:xfrm>
            <a:off x="4513860" y="1654288"/>
            <a:ext cx="583407" cy="147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42C2</a:t>
            </a:r>
            <a:endParaRPr lang="ko-KR" altLang="en-US" sz="8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BF3D369-DEAF-4BCB-9CAA-9FD9F9D36E1C}"/>
              </a:ext>
            </a:extLst>
          </p:cNvPr>
          <p:cNvSpPr/>
          <p:nvPr/>
        </p:nvSpPr>
        <p:spPr>
          <a:xfrm>
            <a:off x="5162619" y="1654288"/>
            <a:ext cx="583407" cy="147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81D2D23-903D-4273-8077-A9D542CB3503}"/>
              </a:ext>
            </a:extLst>
          </p:cNvPr>
          <p:cNvSpPr/>
          <p:nvPr/>
        </p:nvSpPr>
        <p:spPr>
          <a:xfrm>
            <a:off x="488198" y="5799764"/>
            <a:ext cx="677805" cy="163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Man Manual A </a:t>
            </a:r>
            <a:r>
              <a:rPr lang="en-US" altLang="ko-KR" sz="800" dirty="0" err="1"/>
              <a:t>ual</a:t>
            </a:r>
            <a:r>
              <a:rPr lang="en-US" altLang="ko-KR" sz="800" dirty="0"/>
              <a:t> A</a:t>
            </a:r>
            <a:endParaRPr lang="ko-KR" altLang="en-US" sz="800" dirty="0"/>
          </a:p>
        </p:txBody>
      </p:sp>
      <p:sp>
        <p:nvSpPr>
          <p:cNvPr id="28" name="말풍선: 사각형 27">
            <a:extLst>
              <a:ext uri="{FF2B5EF4-FFF2-40B4-BE49-F238E27FC236}">
                <a16:creationId xmlns:a16="http://schemas.microsoft.com/office/drawing/2014/main" id="{B004C23F-B8C8-4030-B127-25B2AF8BABE6}"/>
              </a:ext>
            </a:extLst>
          </p:cNvPr>
          <p:cNvSpPr/>
          <p:nvPr/>
        </p:nvSpPr>
        <p:spPr>
          <a:xfrm>
            <a:off x="479489" y="5233147"/>
            <a:ext cx="2135773" cy="442704"/>
          </a:xfrm>
          <a:prstGeom prst="wedgeRectCallout">
            <a:avLst>
              <a:gd name="adj1" fmla="val 68015"/>
              <a:gd name="adj2" fmla="val -8136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/>
              <a:t>Tambahkan</a:t>
            </a:r>
            <a:r>
              <a:rPr lang="en-US" altLang="ko-KR" sz="800" dirty="0"/>
              <a:t> daftar material yang </a:t>
            </a:r>
            <a:r>
              <a:rPr lang="en-US" altLang="ko-KR" sz="800" dirty="0" err="1"/>
              <a:t>telah</a:t>
            </a:r>
            <a:r>
              <a:rPr lang="en-US" altLang="ko-KR" sz="800" dirty="0"/>
              <a:t> </a:t>
            </a:r>
            <a:r>
              <a:rPr lang="en-US" altLang="ko-KR" sz="800" dirty="0" err="1"/>
              <a:t>diubah</a:t>
            </a:r>
            <a:r>
              <a:rPr lang="en-US" altLang="ko-KR" sz="800" dirty="0"/>
              <a:t>.</a:t>
            </a:r>
          </a:p>
          <a:p>
            <a:pPr algn="ctr"/>
            <a:r>
              <a:rPr lang="ko-KR" altLang="en-US" sz="800" dirty="0"/>
              <a:t>수정된 재료 목록을 추가하세요</a:t>
            </a:r>
            <a:r>
              <a:rPr lang="en-US" altLang="ko-KR" sz="800" dirty="0"/>
              <a:t>.</a:t>
            </a:r>
          </a:p>
          <a:p>
            <a:pPr algn="ctr"/>
            <a:endParaRPr lang="ko-KR" altLang="en-US" sz="8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96AD715-3EEF-4194-A62D-D37E84BE9AF3}"/>
              </a:ext>
            </a:extLst>
          </p:cNvPr>
          <p:cNvSpPr/>
          <p:nvPr/>
        </p:nvSpPr>
        <p:spPr>
          <a:xfrm>
            <a:off x="1208472" y="5799764"/>
            <a:ext cx="677805" cy="163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Man Manual B </a:t>
            </a:r>
            <a:r>
              <a:rPr lang="en-US" altLang="ko-KR" sz="800" dirty="0" err="1"/>
              <a:t>ual</a:t>
            </a:r>
            <a:r>
              <a:rPr lang="en-US" altLang="ko-KR" sz="800" dirty="0"/>
              <a:t> A</a:t>
            </a:r>
            <a:endParaRPr lang="ko-KR" altLang="en-US" sz="8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EC67521-539A-449D-AFA7-F35F3E02E2E1}"/>
              </a:ext>
            </a:extLst>
          </p:cNvPr>
          <p:cNvSpPr/>
          <p:nvPr/>
        </p:nvSpPr>
        <p:spPr>
          <a:xfrm>
            <a:off x="2045805" y="5799764"/>
            <a:ext cx="677805" cy="163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Man Manual C </a:t>
            </a:r>
            <a:r>
              <a:rPr lang="en-US" altLang="ko-KR" sz="800" dirty="0" err="1"/>
              <a:t>ual</a:t>
            </a:r>
            <a:r>
              <a:rPr lang="en-US" altLang="ko-KR" sz="800" dirty="0"/>
              <a:t> A</a:t>
            </a:r>
            <a:endParaRPr lang="ko-KR" altLang="en-US" sz="8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171899D-F09F-466F-9EE3-1C42C080E2EA}"/>
              </a:ext>
            </a:extLst>
          </p:cNvPr>
          <p:cNvSpPr/>
          <p:nvPr/>
        </p:nvSpPr>
        <p:spPr>
          <a:xfrm>
            <a:off x="2808859" y="5799764"/>
            <a:ext cx="677805" cy="163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F9CAF5-866B-45AD-9230-31F1C19FCED1}"/>
              </a:ext>
            </a:extLst>
          </p:cNvPr>
          <p:cNvSpPr txBox="1"/>
          <p:nvPr/>
        </p:nvSpPr>
        <p:spPr>
          <a:xfrm>
            <a:off x="3489743" y="5697086"/>
            <a:ext cx="327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Tambahkan</a:t>
            </a:r>
            <a:r>
              <a:rPr lang="en-US" altLang="ko-KR" dirty="0"/>
              <a:t> </a:t>
            </a:r>
            <a:r>
              <a:rPr lang="en-US" altLang="ko-KR" dirty="0" err="1"/>
              <a:t>sekitar</a:t>
            </a:r>
            <a:r>
              <a:rPr lang="en-US" altLang="ko-KR" dirty="0"/>
              <a:t> 10 </a:t>
            </a:r>
            <a:r>
              <a:rPr lang="en-US" altLang="ko-KR" dirty="0" err="1"/>
              <a:t>spasi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149C55-8FAC-4417-947C-894E977460B4}"/>
              </a:ext>
            </a:extLst>
          </p:cNvPr>
          <p:cNvSpPr txBox="1"/>
          <p:nvPr/>
        </p:nvSpPr>
        <p:spPr>
          <a:xfrm>
            <a:off x="3630390" y="1742692"/>
            <a:ext cx="3135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/>
              <a:t>Tambahkan</a:t>
            </a:r>
            <a:r>
              <a:rPr lang="en-US" altLang="ko-KR" sz="1100" dirty="0"/>
              <a:t> </a:t>
            </a:r>
            <a:r>
              <a:rPr lang="en-US" altLang="ko-KR" sz="1100" dirty="0" err="1"/>
              <a:t>sekitar</a:t>
            </a:r>
            <a:r>
              <a:rPr lang="en-US" altLang="ko-KR" sz="1100" dirty="0"/>
              <a:t> 10 </a:t>
            </a:r>
            <a:r>
              <a:rPr lang="en-US" altLang="ko-KR" sz="1100" dirty="0" err="1"/>
              <a:t>spasi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sp>
        <p:nvSpPr>
          <p:cNvPr id="33" name="말풍선: 사각형 32">
            <a:extLst>
              <a:ext uri="{FF2B5EF4-FFF2-40B4-BE49-F238E27FC236}">
                <a16:creationId xmlns:a16="http://schemas.microsoft.com/office/drawing/2014/main" id="{D3A7AC21-6EA2-4D3C-B391-597E2AD0D4B7}"/>
              </a:ext>
            </a:extLst>
          </p:cNvPr>
          <p:cNvSpPr/>
          <p:nvPr/>
        </p:nvSpPr>
        <p:spPr>
          <a:xfrm>
            <a:off x="8088090" y="5963740"/>
            <a:ext cx="2135773" cy="500560"/>
          </a:xfrm>
          <a:prstGeom prst="wedgeRectCallout">
            <a:avLst>
              <a:gd name="adj1" fmla="val 39515"/>
              <a:gd name="adj2" fmla="val -2589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altLang="ko-KR" sz="800" dirty="0"/>
              <a:t>Harap tampilkan hanya model yang representatif di sini.</a:t>
            </a:r>
          </a:p>
          <a:p>
            <a:pPr algn="ctr"/>
            <a:r>
              <a:rPr lang="ko-KR" altLang="en-US" sz="800" dirty="0"/>
              <a:t>여기에는 대표적인 모델만 제시되어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61228E-1389-4A74-A311-D21FBC5DA15E}"/>
              </a:ext>
            </a:extLst>
          </p:cNvPr>
          <p:cNvSpPr txBox="1"/>
          <p:nvPr/>
        </p:nvSpPr>
        <p:spPr>
          <a:xfrm>
            <a:off x="0" y="0"/>
            <a:ext cx="256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revisi</a:t>
            </a:r>
            <a:r>
              <a:rPr lang="en-US" altLang="ko-KR" dirty="0"/>
              <a:t> ke-3</a:t>
            </a:r>
            <a:endParaRPr lang="ko-KR" altLang="en-US" dirty="0"/>
          </a:p>
        </p:txBody>
      </p:sp>
      <p:sp>
        <p:nvSpPr>
          <p:cNvPr id="35" name="Circle: Hollow 34">
            <a:extLst>
              <a:ext uri="{FF2B5EF4-FFF2-40B4-BE49-F238E27FC236}">
                <a16:creationId xmlns:a16="http://schemas.microsoft.com/office/drawing/2014/main" id="{60E1B6FD-CF9C-4230-B91F-5F9982B6219B}"/>
              </a:ext>
            </a:extLst>
          </p:cNvPr>
          <p:cNvSpPr/>
          <p:nvPr/>
        </p:nvSpPr>
        <p:spPr>
          <a:xfrm>
            <a:off x="10512343" y="57891"/>
            <a:ext cx="1390449" cy="1403684"/>
          </a:xfrm>
          <a:prstGeom prst="donu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399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F6D4D2F-114B-4042-B19C-B0AD2E952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563985"/>
            <a:ext cx="10801350" cy="3577380"/>
          </a:xfrm>
          <a:prstGeom prst="rect">
            <a:avLst/>
          </a:prstGeom>
        </p:spPr>
      </p:pic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F2F3F085-0DD7-4962-BD46-E3E488E87AF2}"/>
              </a:ext>
            </a:extLst>
          </p:cNvPr>
          <p:cNvSpPr/>
          <p:nvPr/>
        </p:nvSpPr>
        <p:spPr>
          <a:xfrm>
            <a:off x="5022429" y="1044923"/>
            <a:ext cx="3190079" cy="442704"/>
          </a:xfrm>
          <a:prstGeom prst="wedgeRectCallout">
            <a:avLst>
              <a:gd name="adj1" fmla="val -111636"/>
              <a:gd name="adj2" fmla="val 1812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Kolom input ECO </a:t>
            </a:r>
            <a:r>
              <a:rPr lang="en-US" altLang="ko-KR" sz="800" dirty="0" err="1"/>
              <a:t>menampilkan</a:t>
            </a:r>
            <a:r>
              <a:rPr lang="en-US" altLang="ko-KR" sz="800" dirty="0"/>
              <a:t> daftar material yang </a:t>
            </a:r>
            <a:r>
              <a:rPr lang="en-US" altLang="ko-KR" sz="800" dirty="0" err="1"/>
              <a:t>telah</a:t>
            </a:r>
            <a:r>
              <a:rPr lang="en-US" altLang="ko-KR" sz="800" dirty="0"/>
              <a:t> </a:t>
            </a:r>
            <a:r>
              <a:rPr lang="en-US" altLang="ko-KR" sz="800" dirty="0" err="1"/>
              <a:t>dimasukkan</a:t>
            </a:r>
            <a:r>
              <a:rPr lang="en-US" altLang="ko-KR" sz="800" dirty="0"/>
              <a:t>.</a:t>
            </a:r>
          </a:p>
          <a:p>
            <a:pPr algn="ctr"/>
            <a:r>
              <a:rPr lang="en-US" altLang="ko-KR" sz="800" dirty="0"/>
              <a:t>ECO </a:t>
            </a:r>
            <a:r>
              <a:rPr lang="ko-KR" altLang="en-US" sz="800" dirty="0"/>
              <a:t>입력 필드에는 입력된 자재 목록이 표시됩니다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5" name="말풍선: 사각형 4">
            <a:extLst>
              <a:ext uri="{FF2B5EF4-FFF2-40B4-BE49-F238E27FC236}">
                <a16:creationId xmlns:a16="http://schemas.microsoft.com/office/drawing/2014/main" id="{129BA7A9-C42E-427B-B7C4-5F811F098B61}"/>
              </a:ext>
            </a:extLst>
          </p:cNvPr>
          <p:cNvSpPr/>
          <p:nvPr/>
        </p:nvSpPr>
        <p:spPr>
          <a:xfrm>
            <a:off x="6506762" y="2131931"/>
            <a:ext cx="3190079" cy="1340282"/>
          </a:xfrm>
          <a:prstGeom prst="wedgeRectCallout">
            <a:avLst>
              <a:gd name="adj1" fmla="val -188526"/>
              <a:gd name="adj2" fmla="val 226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altLang="ko-KR" sz="800" dirty="0"/>
              <a:t>Klik "Daftar Material" untuk mencatat pemasukan dan pengeluaran material.</a:t>
            </a:r>
          </a:p>
          <a:p>
            <a:pPr algn="ctr"/>
            <a:endParaRPr lang="sv-SE" altLang="ko-KR" sz="800" dirty="0"/>
          </a:p>
          <a:p>
            <a:pPr algn="ctr"/>
            <a:r>
              <a:rPr lang="sv-SE" altLang="ko-KR" sz="800" dirty="0"/>
              <a:t>Pastikan seluruh riwayat pemasukan dan pengeluaran </a:t>
            </a:r>
          </a:p>
          <a:p>
            <a:pPr algn="ctr"/>
            <a:endParaRPr lang="sv-SE" altLang="ko-KR" sz="800" dirty="0"/>
          </a:p>
          <a:p>
            <a:pPr algn="ctr"/>
            <a:r>
              <a:rPr lang="en-US" altLang="ko-KR" sz="800" dirty="0"/>
              <a:t>"</a:t>
            </a:r>
            <a:r>
              <a:rPr lang="ko-KR" altLang="en-US" sz="800" dirty="0"/>
              <a:t>자재 목록</a:t>
            </a:r>
            <a:r>
              <a:rPr lang="en-US" altLang="ko-KR" sz="800" dirty="0"/>
              <a:t>"</a:t>
            </a:r>
            <a:r>
              <a:rPr lang="ko-KR" altLang="en-US" sz="800" dirty="0"/>
              <a:t>을 클릭하여 입고 및 출고 자재를 기록하십시오</a:t>
            </a:r>
            <a:r>
              <a:rPr lang="en-US" altLang="ko-KR" sz="800" dirty="0"/>
              <a:t>.</a:t>
            </a:r>
          </a:p>
          <a:p>
            <a:pPr algn="ctr"/>
            <a:endParaRPr lang="en-US" altLang="ko-KR" sz="800" dirty="0"/>
          </a:p>
          <a:p>
            <a:pPr algn="ctr"/>
            <a:r>
              <a:rPr lang="ko-KR" altLang="en-US" sz="800" dirty="0"/>
              <a:t>모든 입고 및 출고 자재 이력이 표시되는지 확인하십시오</a:t>
            </a:r>
            <a:r>
              <a:rPr lang="en-US" altLang="ko-KR" sz="800" dirty="0"/>
              <a:t>.</a:t>
            </a:r>
            <a:r>
              <a:rPr lang="sv-SE" altLang="ko-KR" sz="800" dirty="0"/>
              <a:t>ditampilkan.</a:t>
            </a:r>
            <a:endParaRPr lang="ko-KR" altLang="en-US" sz="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1FC660-A568-46A4-B322-C6ECC8A3D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58" y="4070564"/>
            <a:ext cx="7643416" cy="2292136"/>
          </a:xfrm>
          <a:prstGeom prst="rect">
            <a:avLst/>
          </a:prstGeom>
        </p:spPr>
      </p:pic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E9AB81AB-C810-4565-B6EE-D3704795F475}"/>
              </a:ext>
            </a:extLst>
          </p:cNvPr>
          <p:cNvSpPr/>
          <p:nvPr/>
        </p:nvSpPr>
        <p:spPr>
          <a:xfrm>
            <a:off x="8711363" y="4469450"/>
            <a:ext cx="3190079" cy="1340282"/>
          </a:xfrm>
          <a:prstGeom prst="wedgeRectCallout">
            <a:avLst>
              <a:gd name="adj1" fmla="val -103030"/>
              <a:gd name="adj2" fmla="val 278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altLang="ko-KR" sz="800" dirty="0"/>
              <a:t>Jika Anda masih memiliki bahan tersebut, harap tandai dengan warna merah pada daftar "ECO".</a:t>
            </a:r>
          </a:p>
          <a:p>
            <a:pPr algn="ctr"/>
            <a:r>
              <a:rPr lang="ko-KR" altLang="en-US" sz="800" dirty="0"/>
              <a:t>만약 이러한 재료들을 아직 가지고 계시다면</a:t>
            </a:r>
            <a:r>
              <a:rPr lang="en-US" altLang="ko-KR" sz="800" dirty="0"/>
              <a:t>, "ECO" </a:t>
            </a:r>
            <a:r>
              <a:rPr lang="ko-KR" altLang="en-US" sz="800" dirty="0"/>
              <a:t>목록에 빨간색으로 표시해 주세요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9F3231-93A4-47DE-87C1-739132CA8DBB}"/>
              </a:ext>
            </a:extLst>
          </p:cNvPr>
          <p:cNvSpPr txBox="1"/>
          <p:nvPr/>
        </p:nvSpPr>
        <p:spPr>
          <a:xfrm>
            <a:off x="0" y="0"/>
            <a:ext cx="256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revisi</a:t>
            </a:r>
            <a:r>
              <a:rPr lang="en-US" altLang="ko-KR" dirty="0"/>
              <a:t> ke-3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6818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05A761C-FED7-4365-8FD9-8F161F530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573204"/>
              </p:ext>
            </p:extLst>
          </p:nvPr>
        </p:nvGraphicFramePr>
        <p:xfrm>
          <a:off x="143712" y="99868"/>
          <a:ext cx="10515600" cy="1941228"/>
        </p:xfrm>
        <a:graphic>
          <a:graphicData uri="http://schemas.openxmlformats.org/drawingml/2006/table">
            <a:tbl>
              <a:tblPr/>
              <a:tblGrid>
                <a:gridCol w="1126049">
                  <a:extLst>
                    <a:ext uri="{9D8B030D-6E8A-4147-A177-3AD203B41FA5}">
                      <a16:colId xmlns:a16="http://schemas.microsoft.com/office/drawing/2014/main" val="1542003445"/>
                    </a:ext>
                  </a:extLst>
                </a:gridCol>
                <a:gridCol w="799694">
                  <a:extLst>
                    <a:ext uri="{9D8B030D-6E8A-4147-A177-3AD203B41FA5}">
                      <a16:colId xmlns:a16="http://schemas.microsoft.com/office/drawing/2014/main" val="2303754256"/>
                    </a:ext>
                  </a:extLst>
                </a:gridCol>
                <a:gridCol w="3726922">
                  <a:extLst>
                    <a:ext uri="{9D8B030D-6E8A-4147-A177-3AD203B41FA5}">
                      <a16:colId xmlns:a16="http://schemas.microsoft.com/office/drawing/2014/main" val="218582372"/>
                    </a:ext>
                  </a:extLst>
                </a:gridCol>
                <a:gridCol w="1345279">
                  <a:extLst>
                    <a:ext uri="{9D8B030D-6E8A-4147-A177-3AD203B41FA5}">
                      <a16:colId xmlns:a16="http://schemas.microsoft.com/office/drawing/2014/main" val="3685252835"/>
                    </a:ext>
                  </a:extLst>
                </a:gridCol>
                <a:gridCol w="3517656">
                  <a:extLst>
                    <a:ext uri="{9D8B030D-6E8A-4147-A177-3AD203B41FA5}">
                      <a16:colId xmlns:a16="http://schemas.microsoft.com/office/drawing/2014/main" val="3567521697"/>
                    </a:ext>
                  </a:extLst>
                </a:gridCol>
              </a:tblGrid>
              <a:tr h="162762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ECO</a:t>
                      </a:r>
                      <a:r>
                        <a:rPr lang="ko-KR" alt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워크플로우</a:t>
                      </a:r>
                    </a:p>
                  </a:txBody>
                  <a:tcPr marL="7476" marR="7476" marT="74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476" marR="7476" marT="74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476" marR="7476" marT="74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476" marR="7476" marT="74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0290990"/>
                  </a:ext>
                </a:extLst>
              </a:tr>
              <a:tr h="102308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476" marR="7476" marT="74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476" marR="7476" marT="74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476" marR="7476" marT="74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476" marR="7476" marT="74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476" marR="7476" marT="74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7016157"/>
                  </a:ext>
                </a:extLst>
              </a:tr>
              <a:tr h="10230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상태코드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출력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 주체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게이트 조건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다음 단계로 이동하려면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5999173"/>
                  </a:ext>
                </a:extLst>
              </a:tr>
              <a:tr h="10230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50" charset="-127"/>
                          <a:ea typeface="Arial Unicode MS" panose="020B0604020202020204" pitchFamily="50" charset="-127"/>
                        </a:rPr>
                        <a:t>NEW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도면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·ECO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원문 업로드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 메타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 필드 완비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중복검사 통과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9794591"/>
                  </a:ext>
                </a:extLst>
              </a:tr>
              <a:tr h="10230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초기검토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50" charset="-127"/>
                          <a:ea typeface="Arial Unicode MS" panose="020B0604020202020204" pitchFamily="50" charset="-127"/>
                        </a:rPr>
                        <a:t>SCREEN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변경요지 요약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영향 범주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공정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영향분석 착수 등록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589061"/>
                  </a:ext>
                </a:extLst>
              </a:tr>
              <a:tr h="10230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영향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원가 분석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50" charset="-127"/>
                          <a:ea typeface="Arial Unicode MS" panose="020B0604020202020204" pitchFamily="50" charset="-127"/>
                        </a:rPr>
                        <a:t>IMPACT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BOM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대체부품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기존재고 스냅샷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폐기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전환 전략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원가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/QC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영향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생산관리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①재고정책 확정 ②원가 영향 수치 입력 ③리스크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완화책 문서화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553072"/>
                  </a:ext>
                </a:extLst>
              </a:tr>
              <a:tr h="1023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결재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50" charset="-127"/>
                          <a:ea typeface="Arial Unicode MS" panose="020B0604020202020204" pitchFamily="50" charset="-127"/>
                        </a:rPr>
                        <a:t>APPROVAL_L1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결재 요청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팀장급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부서별 체크리스트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서명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467138"/>
                  </a:ext>
                </a:extLst>
              </a:tr>
              <a:tr h="10230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결재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50" charset="-127"/>
                          <a:ea typeface="Arial Unicode MS" panose="020B0604020202020204" pitchFamily="50" charset="-127"/>
                        </a:rPr>
                        <a:t>APPROVAL_L2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결재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법인장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고객요건 확인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커버링 문서 첨부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0216383"/>
                  </a:ext>
                </a:extLst>
              </a:tr>
              <a:tr h="10230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적용계획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50" charset="-127"/>
                          <a:ea typeface="Arial Unicode MS" panose="020B0604020202020204" pitchFamily="50" charset="-127"/>
                        </a:rPr>
                        <a:t>PLAN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적용일자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·Lot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작업지시 템플릿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교육자료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생산기획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품질보증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기존재고 소진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폐기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라벨전환 정책이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시스템에 잠금 규칙으로 반영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506900"/>
                  </a:ext>
                </a:extLst>
              </a:tr>
              <a:tr h="10230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T1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시뮬레이션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50" charset="-127"/>
                          <a:ea typeface="Arial Unicode MS" panose="020B0604020202020204" pitchFamily="50" charset="-127"/>
                        </a:rPr>
                        <a:t>T1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시뮬 결과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불량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조치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불량한계치 내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QC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체크 통과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763047"/>
                  </a:ext>
                </a:extLst>
              </a:tr>
              <a:tr h="10230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시뮬레이션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50" charset="-127"/>
                          <a:ea typeface="Arial Unicode MS" panose="020B0604020202020204" pitchFamily="50" charset="-127"/>
                        </a:rPr>
                        <a:t>T2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재확인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특채표준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전수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샘플 기준 충족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전자서명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476091"/>
                  </a:ext>
                </a:extLst>
              </a:tr>
              <a:tr h="10230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양산적용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50" charset="-127"/>
                          <a:ea typeface="Arial Unicode MS" panose="020B0604020202020204" pitchFamily="50" charset="-127"/>
                        </a:rPr>
                        <a:t>LIVE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배치전환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레시피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금형 조건 배포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금형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공무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공정별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Andon “GREEN”,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초도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24h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집중 모니터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681473"/>
                  </a:ext>
                </a:extLst>
              </a:tr>
              <a:tr h="10230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종결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50" charset="-127"/>
                          <a:ea typeface="Arial Unicode MS" panose="020B0604020202020204" pitchFamily="50" charset="-127"/>
                        </a:rPr>
                        <a:t>CLOSE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KPI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달성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이슈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Zero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생산관리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CAPA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교육이수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476" marR="7476" marT="7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45924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480F5F-A767-4F5F-AA7E-A0C445D4A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90246"/>
              </p:ext>
            </p:extLst>
          </p:nvPr>
        </p:nvGraphicFramePr>
        <p:xfrm>
          <a:off x="142875" y="2127223"/>
          <a:ext cx="9193530" cy="2844653"/>
        </p:xfrm>
        <a:graphic>
          <a:graphicData uri="http://schemas.openxmlformats.org/drawingml/2006/table">
            <a:tbl>
              <a:tblPr/>
              <a:tblGrid>
                <a:gridCol w="718184">
                  <a:extLst>
                    <a:ext uri="{9D8B030D-6E8A-4147-A177-3AD203B41FA5}">
                      <a16:colId xmlns:a16="http://schemas.microsoft.com/office/drawing/2014/main" val="4195057288"/>
                    </a:ext>
                  </a:extLst>
                </a:gridCol>
                <a:gridCol w="770486">
                  <a:extLst>
                    <a:ext uri="{9D8B030D-6E8A-4147-A177-3AD203B41FA5}">
                      <a16:colId xmlns:a16="http://schemas.microsoft.com/office/drawing/2014/main" val="2707461478"/>
                    </a:ext>
                  </a:extLst>
                </a:gridCol>
                <a:gridCol w="770486">
                  <a:extLst>
                    <a:ext uri="{9D8B030D-6E8A-4147-A177-3AD203B41FA5}">
                      <a16:colId xmlns:a16="http://schemas.microsoft.com/office/drawing/2014/main" val="3776560754"/>
                    </a:ext>
                  </a:extLst>
                </a:gridCol>
                <a:gridCol w="770486">
                  <a:extLst>
                    <a:ext uri="{9D8B030D-6E8A-4147-A177-3AD203B41FA5}">
                      <a16:colId xmlns:a16="http://schemas.microsoft.com/office/drawing/2014/main" val="1958151001"/>
                    </a:ext>
                  </a:extLst>
                </a:gridCol>
                <a:gridCol w="770486">
                  <a:extLst>
                    <a:ext uri="{9D8B030D-6E8A-4147-A177-3AD203B41FA5}">
                      <a16:colId xmlns:a16="http://schemas.microsoft.com/office/drawing/2014/main" val="165524942"/>
                    </a:ext>
                  </a:extLst>
                </a:gridCol>
                <a:gridCol w="770486">
                  <a:extLst>
                    <a:ext uri="{9D8B030D-6E8A-4147-A177-3AD203B41FA5}">
                      <a16:colId xmlns:a16="http://schemas.microsoft.com/office/drawing/2014/main" val="4107299033"/>
                    </a:ext>
                  </a:extLst>
                </a:gridCol>
                <a:gridCol w="770486">
                  <a:extLst>
                    <a:ext uri="{9D8B030D-6E8A-4147-A177-3AD203B41FA5}">
                      <a16:colId xmlns:a16="http://schemas.microsoft.com/office/drawing/2014/main" val="3614838743"/>
                    </a:ext>
                  </a:extLst>
                </a:gridCol>
                <a:gridCol w="770486">
                  <a:extLst>
                    <a:ext uri="{9D8B030D-6E8A-4147-A177-3AD203B41FA5}">
                      <a16:colId xmlns:a16="http://schemas.microsoft.com/office/drawing/2014/main" val="1320082593"/>
                    </a:ext>
                  </a:extLst>
                </a:gridCol>
                <a:gridCol w="770486">
                  <a:extLst>
                    <a:ext uri="{9D8B030D-6E8A-4147-A177-3AD203B41FA5}">
                      <a16:colId xmlns:a16="http://schemas.microsoft.com/office/drawing/2014/main" val="3895363605"/>
                    </a:ext>
                  </a:extLst>
                </a:gridCol>
                <a:gridCol w="770486">
                  <a:extLst>
                    <a:ext uri="{9D8B030D-6E8A-4147-A177-3AD203B41FA5}">
                      <a16:colId xmlns:a16="http://schemas.microsoft.com/office/drawing/2014/main" val="2508839034"/>
                    </a:ext>
                  </a:extLst>
                </a:gridCol>
                <a:gridCol w="770486">
                  <a:extLst>
                    <a:ext uri="{9D8B030D-6E8A-4147-A177-3AD203B41FA5}">
                      <a16:colId xmlns:a16="http://schemas.microsoft.com/office/drawing/2014/main" val="1274430203"/>
                    </a:ext>
                  </a:extLst>
                </a:gridCol>
                <a:gridCol w="770486">
                  <a:extLst>
                    <a:ext uri="{9D8B030D-6E8A-4147-A177-3AD203B41FA5}">
                      <a16:colId xmlns:a16="http://schemas.microsoft.com/office/drawing/2014/main" val="15063291"/>
                    </a:ext>
                  </a:extLst>
                </a:gridCol>
              </a:tblGrid>
              <a:tr h="277745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모듈 구성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화면과 기능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6172066"/>
                  </a:ext>
                </a:extLst>
              </a:tr>
              <a:tr h="119812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5817201"/>
                  </a:ext>
                </a:extLst>
              </a:tr>
              <a:tr h="11981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ECO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인박스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접수함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380488"/>
                  </a:ext>
                </a:extLst>
              </a:tr>
              <a:tr h="119812">
                <a:tc gridSpan="6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도면버전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긴급도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색상 태그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중복검사 버튼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854909"/>
                  </a:ext>
                </a:extLst>
              </a:tr>
              <a:tr h="119812">
                <a:tc gridSpan="7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CPC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도면 리스트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사내 리스트”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비교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차이점 하이라이트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934743"/>
                  </a:ext>
                </a:extLst>
              </a:tr>
              <a:tr h="119812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588850"/>
                  </a:ext>
                </a:extLst>
              </a:tr>
              <a:tr h="11981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영향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원가 분석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6990733"/>
                  </a:ext>
                </a:extLst>
              </a:tr>
              <a:tr h="119812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BOM Diff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뷰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이전↔이후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영향 부품 자동 탐지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068541"/>
                  </a:ext>
                </a:extLst>
              </a:tr>
              <a:tr h="119812">
                <a:tc gridSpan="9"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기존재고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창고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공정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재공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실시간 수량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 지도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 사용가능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금지 상태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639317"/>
                  </a:ext>
                </a:extLst>
              </a:tr>
              <a:tr h="119812">
                <a:tc gridSpan="8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처리전략 시뮬레이터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리워크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폐기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비율에 따른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손익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납기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자동 계산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598643"/>
                  </a:ext>
                </a:extLst>
              </a:tr>
              <a:tr h="119812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331176"/>
                  </a:ext>
                </a:extLst>
              </a:tr>
              <a:tr h="11981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&amp;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전부서 서명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5878643"/>
                  </a:ext>
                </a:extLst>
              </a:tr>
              <a:tr h="119812">
                <a:tc gridSpan="8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부서별 체크리스트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구매자재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/QOC/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출하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→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전자서명 콜렉션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637789"/>
                  </a:ext>
                </a:extLst>
              </a:tr>
              <a:tr h="119812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 사유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수정요청 스레드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재상신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히스토리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15090"/>
                  </a:ext>
                </a:extLst>
              </a:tr>
              <a:tr h="119812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279837"/>
                  </a:ext>
                </a:extLst>
              </a:tr>
              <a:tr h="11981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현장 대시보드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안돈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037057"/>
                  </a:ext>
                </a:extLst>
              </a:tr>
              <a:tr h="119812">
                <a:tc gridSpan="8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오늘 적용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ECO,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라인별 상태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(GREEN/AMBER/RED), T1/T2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통과율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불량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Top3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6092804"/>
                  </a:ext>
                </a:extLst>
              </a:tr>
              <a:tr h="119812">
                <a:tc gridSpan="6"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스캔 이벤트 </a:t>
                      </a:r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피드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(QR/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바코드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스캔시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규격불일치 경고 팝업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805919"/>
                  </a:ext>
                </a:extLst>
              </a:tr>
              <a:tr h="119812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082553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D76ED91-8586-406F-8AE6-7051349ED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329877"/>
              </p:ext>
            </p:extLst>
          </p:nvPr>
        </p:nvGraphicFramePr>
        <p:xfrm>
          <a:off x="4739640" y="2524331"/>
          <a:ext cx="4610448" cy="3378976"/>
        </p:xfrm>
        <a:graphic>
          <a:graphicData uri="http://schemas.openxmlformats.org/drawingml/2006/table">
            <a:tbl>
              <a:tblPr/>
              <a:tblGrid>
                <a:gridCol w="384204">
                  <a:extLst>
                    <a:ext uri="{9D8B030D-6E8A-4147-A177-3AD203B41FA5}">
                      <a16:colId xmlns:a16="http://schemas.microsoft.com/office/drawing/2014/main" val="4195057288"/>
                    </a:ext>
                  </a:extLst>
                </a:gridCol>
                <a:gridCol w="384204">
                  <a:extLst>
                    <a:ext uri="{9D8B030D-6E8A-4147-A177-3AD203B41FA5}">
                      <a16:colId xmlns:a16="http://schemas.microsoft.com/office/drawing/2014/main" val="2707461478"/>
                    </a:ext>
                  </a:extLst>
                </a:gridCol>
                <a:gridCol w="384204">
                  <a:extLst>
                    <a:ext uri="{9D8B030D-6E8A-4147-A177-3AD203B41FA5}">
                      <a16:colId xmlns:a16="http://schemas.microsoft.com/office/drawing/2014/main" val="3776560754"/>
                    </a:ext>
                  </a:extLst>
                </a:gridCol>
                <a:gridCol w="384204">
                  <a:extLst>
                    <a:ext uri="{9D8B030D-6E8A-4147-A177-3AD203B41FA5}">
                      <a16:colId xmlns:a16="http://schemas.microsoft.com/office/drawing/2014/main" val="1958151001"/>
                    </a:ext>
                  </a:extLst>
                </a:gridCol>
                <a:gridCol w="384204">
                  <a:extLst>
                    <a:ext uri="{9D8B030D-6E8A-4147-A177-3AD203B41FA5}">
                      <a16:colId xmlns:a16="http://schemas.microsoft.com/office/drawing/2014/main" val="165524942"/>
                    </a:ext>
                  </a:extLst>
                </a:gridCol>
                <a:gridCol w="384204">
                  <a:extLst>
                    <a:ext uri="{9D8B030D-6E8A-4147-A177-3AD203B41FA5}">
                      <a16:colId xmlns:a16="http://schemas.microsoft.com/office/drawing/2014/main" val="4107299033"/>
                    </a:ext>
                  </a:extLst>
                </a:gridCol>
                <a:gridCol w="384204">
                  <a:extLst>
                    <a:ext uri="{9D8B030D-6E8A-4147-A177-3AD203B41FA5}">
                      <a16:colId xmlns:a16="http://schemas.microsoft.com/office/drawing/2014/main" val="3614838743"/>
                    </a:ext>
                  </a:extLst>
                </a:gridCol>
                <a:gridCol w="384204">
                  <a:extLst>
                    <a:ext uri="{9D8B030D-6E8A-4147-A177-3AD203B41FA5}">
                      <a16:colId xmlns:a16="http://schemas.microsoft.com/office/drawing/2014/main" val="1320082593"/>
                    </a:ext>
                  </a:extLst>
                </a:gridCol>
                <a:gridCol w="384204">
                  <a:extLst>
                    <a:ext uri="{9D8B030D-6E8A-4147-A177-3AD203B41FA5}">
                      <a16:colId xmlns:a16="http://schemas.microsoft.com/office/drawing/2014/main" val="3895363605"/>
                    </a:ext>
                  </a:extLst>
                </a:gridCol>
                <a:gridCol w="384204">
                  <a:extLst>
                    <a:ext uri="{9D8B030D-6E8A-4147-A177-3AD203B41FA5}">
                      <a16:colId xmlns:a16="http://schemas.microsoft.com/office/drawing/2014/main" val="2508839034"/>
                    </a:ext>
                  </a:extLst>
                </a:gridCol>
                <a:gridCol w="384204">
                  <a:extLst>
                    <a:ext uri="{9D8B030D-6E8A-4147-A177-3AD203B41FA5}">
                      <a16:colId xmlns:a16="http://schemas.microsoft.com/office/drawing/2014/main" val="1274430203"/>
                    </a:ext>
                  </a:extLst>
                </a:gridCol>
                <a:gridCol w="384204">
                  <a:extLst>
                    <a:ext uri="{9D8B030D-6E8A-4147-A177-3AD203B41FA5}">
                      <a16:colId xmlns:a16="http://schemas.microsoft.com/office/drawing/2014/main" val="15063291"/>
                    </a:ext>
                  </a:extLst>
                </a:gridCol>
              </a:tblGrid>
              <a:tr h="119812">
                <a:tc gridSpan="10"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사용현황 보드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603788"/>
                  </a:ext>
                </a:extLst>
              </a:tr>
              <a:tr h="119812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“이전규격 재고” 잔량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소진률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 소진일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ETA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091103"/>
                  </a:ext>
                </a:extLst>
              </a:tr>
              <a:tr h="119812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투입 이력 타임라인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누가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언제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어느 라인에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몇 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9652449"/>
                  </a:ext>
                </a:extLst>
              </a:tr>
              <a:tr h="119812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1626580"/>
                  </a:ext>
                </a:extLst>
              </a:tr>
              <a:tr h="11981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적용계획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&amp;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2075378"/>
                  </a:ext>
                </a:extLst>
              </a:tr>
              <a:tr h="119812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경계 자동 추천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수요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휴일 고려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834221"/>
                  </a:ext>
                </a:extLst>
              </a:tr>
              <a:tr h="119812">
                <a:tc gridSpan="7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작업표준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교육자료 배포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&amp;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이수 체크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미이수자 라인 투입 제한 옵션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8349239"/>
                  </a:ext>
                </a:extLst>
              </a:tr>
              <a:tr h="119812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9468549"/>
                  </a:ext>
                </a:extLst>
              </a:tr>
              <a:tr h="11981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QOC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게이트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808638"/>
                  </a:ext>
                </a:extLst>
              </a:tr>
              <a:tr h="119812">
                <a:tc gridSpan="6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공정품질 지표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(CTQ)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그래프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Gate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통과 버튼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전자서명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54745"/>
                  </a:ext>
                </a:extLst>
              </a:tr>
              <a:tr h="119812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불량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한시승인 관리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CAPA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642807"/>
                  </a:ext>
                </a:extLst>
              </a:tr>
              <a:tr h="119812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990177"/>
                  </a:ext>
                </a:extLst>
              </a:tr>
              <a:tr h="11981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리포트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감사 추적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7599256"/>
                  </a:ext>
                </a:extLst>
              </a:tr>
              <a:tr h="119812">
                <a:tc gridSpan="9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제출용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ECO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패키지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(PDF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생성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):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변경사유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영향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승인체인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샘플결과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9764982"/>
                  </a:ext>
                </a:extLst>
              </a:tr>
              <a:tr h="119812">
                <a:tc gridSpan="6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KPI: ECO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리드타임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반려율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초도불량률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재작업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폐기비용</a:t>
                      </a:r>
                    </a:p>
                  </a:txBody>
                  <a:tcPr marL="81690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8530493"/>
                  </a:ext>
                </a:extLst>
              </a:tr>
              <a:tr h="119812"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6" marR="5446" marT="54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570830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7232DAD-3963-44C0-B441-AA4F55004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494370"/>
              </p:ext>
            </p:extLst>
          </p:nvPr>
        </p:nvGraphicFramePr>
        <p:xfrm>
          <a:off x="8457206" y="2313820"/>
          <a:ext cx="6339888" cy="3589487"/>
        </p:xfrm>
        <a:graphic>
          <a:graphicData uri="http://schemas.openxmlformats.org/drawingml/2006/table">
            <a:tbl>
              <a:tblPr/>
              <a:tblGrid>
                <a:gridCol w="528324">
                  <a:extLst>
                    <a:ext uri="{9D8B030D-6E8A-4147-A177-3AD203B41FA5}">
                      <a16:colId xmlns:a16="http://schemas.microsoft.com/office/drawing/2014/main" val="4066796352"/>
                    </a:ext>
                  </a:extLst>
                </a:gridCol>
                <a:gridCol w="528324">
                  <a:extLst>
                    <a:ext uri="{9D8B030D-6E8A-4147-A177-3AD203B41FA5}">
                      <a16:colId xmlns:a16="http://schemas.microsoft.com/office/drawing/2014/main" val="4250659654"/>
                    </a:ext>
                  </a:extLst>
                </a:gridCol>
                <a:gridCol w="528324">
                  <a:extLst>
                    <a:ext uri="{9D8B030D-6E8A-4147-A177-3AD203B41FA5}">
                      <a16:colId xmlns:a16="http://schemas.microsoft.com/office/drawing/2014/main" val="3751170911"/>
                    </a:ext>
                  </a:extLst>
                </a:gridCol>
                <a:gridCol w="528324">
                  <a:extLst>
                    <a:ext uri="{9D8B030D-6E8A-4147-A177-3AD203B41FA5}">
                      <a16:colId xmlns:a16="http://schemas.microsoft.com/office/drawing/2014/main" val="2525241020"/>
                    </a:ext>
                  </a:extLst>
                </a:gridCol>
                <a:gridCol w="528324">
                  <a:extLst>
                    <a:ext uri="{9D8B030D-6E8A-4147-A177-3AD203B41FA5}">
                      <a16:colId xmlns:a16="http://schemas.microsoft.com/office/drawing/2014/main" val="2369540511"/>
                    </a:ext>
                  </a:extLst>
                </a:gridCol>
                <a:gridCol w="528324">
                  <a:extLst>
                    <a:ext uri="{9D8B030D-6E8A-4147-A177-3AD203B41FA5}">
                      <a16:colId xmlns:a16="http://schemas.microsoft.com/office/drawing/2014/main" val="1986659616"/>
                    </a:ext>
                  </a:extLst>
                </a:gridCol>
                <a:gridCol w="528324">
                  <a:extLst>
                    <a:ext uri="{9D8B030D-6E8A-4147-A177-3AD203B41FA5}">
                      <a16:colId xmlns:a16="http://schemas.microsoft.com/office/drawing/2014/main" val="3085293774"/>
                    </a:ext>
                  </a:extLst>
                </a:gridCol>
                <a:gridCol w="528324">
                  <a:extLst>
                    <a:ext uri="{9D8B030D-6E8A-4147-A177-3AD203B41FA5}">
                      <a16:colId xmlns:a16="http://schemas.microsoft.com/office/drawing/2014/main" val="3427630042"/>
                    </a:ext>
                  </a:extLst>
                </a:gridCol>
                <a:gridCol w="528324">
                  <a:extLst>
                    <a:ext uri="{9D8B030D-6E8A-4147-A177-3AD203B41FA5}">
                      <a16:colId xmlns:a16="http://schemas.microsoft.com/office/drawing/2014/main" val="1366812911"/>
                    </a:ext>
                  </a:extLst>
                </a:gridCol>
                <a:gridCol w="528324">
                  <a:extLst>
                    <a:ext uri="{9D8B030D-6E8A-4147-A177-3AD203B41FA5}">
                      <a16:colId xmlns:a16="http://schemas.microsoft.com/office/drawing/2014/main" val="167614929"/>
                    </a:ext>
                  </a:extLst>
                </a:gridCol>
                <a:gridCol w="528324">
                  <a:extLst>
                    <a:ext uri="{9D8B030D-6E8A-4147-A177-3AD203B41FA5}">
                      <a16:colId xmlns:a16="http://schemas.microsoft.com/office/drawing/2014/main" val="2878515258"/>
                    </a:ext>
                  </a:extLst>
                </a:gridCol>
                <a:gridCol w="528324">
                  <a:extLst>
                    <a:ext uri="{9D8B030D-6E8A-4147-A177-3AD203B41FA5}">
                      <a16:colId xmlns:a16="http://schemas.microsoft.com/office/drawing/2014/main" val="1046781105"/>
                    </a:ext>
                  </a:extLst>
                </a:gridCol>
              </a:tblGrid>
              <a:tr h="361975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 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&amp;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자동화 규칙</a:t>
                      </a: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6486335"/>
                  </a:ext>
                </a:extLst>
              </a:tr>
              <a:tr h="161432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24h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미검토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→ 개발팀장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슬랙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메일 핑</a:t>
                      </a:r>
                    </a:p>
                  </a:txBody>
                  <a:tcPr marL="11006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7053545"/>
                  </a:ext>
                </a:extLst>
              </a:tr>
              <a:tr h="161432">
                <a:tc gridSpan="7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영향분석 결과에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기존재고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임계치 초과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 구매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생관에 자동 티켓 생성</a:t>
                      </a:r>
                    </a:p>
                  </a:txBody>
                  <a:tcPr marL="11006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74843"/>
                  </a:ext>
                </a:extLst>
              </a:tr>
              <a:tr h="161432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게이트별 승인 지연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SLA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초과 시 에스컬레이션</a:t>
                      </a:r>
                    </a:p>
                  </a:txBody>
                  <a:tcPr marL="11006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9974194"/>
                  </a:ext>
                </a:extLst>
              </a:tr>
              <a:tr h="161432">
                <a:tc gridSpan="6"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T1/T2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실패 시 자동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BLOCK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상태로 회귀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CAPA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</a:t>
                      </a:r>
                    </a:p>
                  </a:txBody>
                  <a:tcPr marL="11006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2947647"/>
                  </a:ext>
                </a:extLst>
              </a:tr>
              <a:tr h="37423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목록</a:t>
                      </a: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016367"/>
                  </a:ext>
                </a:extLst>
              </a:tr>
              <a:tr h="16143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ECO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인박스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</a:t>
                      </a:r>
                    </a:p>
                  </a:txBody>
                  <a:tcPr marL="11006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316064"/>
                  </a:ext>
                </a:extLst>
              </a:tr>
              <a:tr h="161432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영향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원가 분석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대시보드형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11006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0697783"/>
                  </a:ext>
                </a:extLst>
              </a:tr>
              <a:tr h="161432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부서별 체크리스트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&amp;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전자서명</a:t>
                      </a:r>
                    </a:p>
                  </a:txBody>
                  <a:tcPr marL="11006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6078046"/>
                  </a:ext>
                </a:extLst>
              </a:tr>
              <a:tr h="161432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적용계획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캘린더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+Lot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경계 도우미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11006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221077"/>
                  </a:ext>
                </a:extLst>
              </a:tr>
              <a:tr h="161432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T1/T2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 게이트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측정값 입력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그래프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11006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6573041"/>
                  </a:ext>
                </a:extLst>
              </a:tr>
              <a:tr h="16143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현장 안돈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풀스크린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11006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567316"/>
                  </a:ext>
                </a:extLst>
              </a:tr>
              <a:tr h="161432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사용현황 보드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재공 탭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11006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155092"/>
                  </a:ext>
                </a:extLst>
              </a:tr>
              <a:tr h="16143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리포트 내보내기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(PDF)</a:t>
                      </a:r>
                    </a:p>
                  </a:txBody>
                  <a:tcPr marL="11006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272845"/>
                  </a:ext>
                </a:extLst>
              </a:tr>
              <a:tr h="37423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KPI &amp;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가시화</a:t>
                      </a: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946785"/>
                  </a:ext>
                </a:extLst>
              </a:tr>
              <a:tr h="161432">
                <a:tc gridSpan="11"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ECO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리드타임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반려율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기존재고 폐기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리워크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비용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(₩),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초도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24h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불량률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 차단건수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교육이수율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11006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79202"/>
                  </a:ext>
                </a:extLst>
              </a:tr>
              <a:tr h="161432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월간 보고서 자동 생성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제출용 패키지</a:t>
                      </a:r>
                    </a:p>
                  </a:txBody>
                  <a:tcPr marL="11006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2502890"/>
                  </a:ext>
                </a:extLst>
              </a:tr>
              <a:tr h="116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338" marR="7338" marT="733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803676"/>
                  </a:ext>
                </a:extLst>
              </a:tr>
            </a:tbl>
          </a:graphicData>
        </a:graphic>
      </p:graphicFrame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EE7FF4A-3B4D-425E-9D8E-FB815BFF61C4}"/>
              </a:ext>
            </a:extLst>
          </p:cNvPr>
          <p:cNvSpPr/>
          <p:nvPr/>
        </p:nvSpPr>
        <p:spPr>
          <a:xfrm>
            <a:off x="142875" y="5058003"/>
            <a:ext cx="3558540" cy="1226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ECR</a:t>
            </a:r>
            <a:r>
              <a:rPr lang="ko-KR" altLang="en-US" dirty="0"/>
              <a:t> 추가 </a:t>
            </a:r>
            <a:endParaRPr lang="en-US" altLang="ko-KR" dirty="0"/>
          </a:p>
          <a:p>
            <a:pPr algn="ctr"/>
            <a:r>
              <a:rPr lang="en-US" altLang="ko-KR" dirty="0"/>
              <a:t>E-Mail </a:t>
            </a:r>
            <a:r>
              <a:rPr lang="ko-KR" altLang="en-US" dirty="0"/>
              <a:t>자동공유 시스템 </a:t>
            </a:r>
          </a:p>
        </p:txBody>
      </p:sp>
    </p:spTree>
    <p:extLst>
      <p:ext uri="{BB962C8B-B14F-4D97-AF65-F5344CB8AC3E}">
        <p14:creationId xmlns:p14="http://schemas.microsoft.com/office/powerpoint/2010/main" val="2326907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F44E560-641B-4D7F-ABDC-A03F7B786658}"/>
              </a:ext>
            </a:extLst>
          </p:cNvPr>
          <p:cNvSpPr/>
          <p:nvPr/>
        </p:nvSpPr>
        <p:spPr>
          <a:xfrm>
            <a:off x="546931" y="290557"/>
            <a:ext cx="2939753" cy="4614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ECO</a:t>
            </a:r>
            <a:r>
              <a:rPr lang="ko-KR" altLang="en-US" dirty="0"/>
              <a:t> 프로그램 제작 방향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FCBEA9-DC03-4271-B93B-DC350F960AB7}"/>
              </a:ext>
            </a:extLst>
          </p:cNvPr>
          <p:cNvSpPr txBox="1"/>
          <p:nvPr/>
        </p:nvSpPr>
        <p:spPr>
          <a:xfrm>
            <a:off x="546930" y="938107"/>
            <a:ext cx="1016949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ECO</a:t>
            </a:r>
            <a:r>
              <a:rPr lang="ko-KR" altLang="en-US" sz="1200" dirty="0"/>
              <a:t>접수 누락 여부 확인</a:t>
            </a:r>
            <a:endParaRPr lang="en-US" altLang="ko-KR" sz="1200" dirty="0"/>
          </a:p>
          <a:p>
            <a:r>
              <a:rPr lang="en-US" altLang="ko-KR" sz="1200" dirty="0"/>
              <a:t>  - ECO </a:t>
            </a:r>
            <a:r>
              <a:rPr lang="ko-KR" altLang="en-US" sz="1200" dirty="0"/>
              <a:t>관리 프로그램의 전체 </a:t>
            </a:r>
            <a:r>
              <a:rPr lang="en-US" altLang="ko-KR" sz="1200" dirty="0"/>
              <a:t>LIST</a:t>
            </a:r>
            <a:r>
              <a:rPr lang="ko-KR" altLang="en-US" sz="1200" dirty="0"/>
              <a:t>를 엑셀로 다운받아 </a:t>
            </a:r>
            <a:r>
              <a:rPr lang="en-US" altLang="ko-KR" sz="1200" dirty="0"/>
              <a:t>CPC</a:t>
            </a:r>
            <a:r>
              <a:rPr lang="ko-KR" altLang="en-US" sz="1200" dirty="0"/>
              <a:t>의 도면 </a:t>
            </a:r>
            <a:r>
              <a:rPr lang="en-US" altLang="ko-KR" sz="1200" dirty="0"/>
              <a:t>LIST</a:t>
            </a:r>
            <a:r>
              <a:rPr lang="ko-KR" altLang="en-US" sz="1200" dirty="0"/>
              <a:t>와 비교 확인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2. IN ECO </a:t>
            </a:r>
            <a:r>
              <a:rPr lang="ko-KR" altLang="en-US" sz="1200" dirty="0"/>
              <a:t>발행 관리</a:t>
            </a:r>
            <a:endParaRPr lang="en-US" altLang="ko-KR" sz="1200" dirty="0"/>
          </a:p>
          <a:p>
            <a:r>
              <a:rPr lang="en-US" altLang="ko-KR" sz="1200" dirty="0"/>
              <a:t>  - LIST</a:t>
            </a:r>
            <a:r>
              <a:rPr lang="ko-KR" altLang="en-US" sz="1200" dirty="0"/>
              <a:t>화 하여 </a:t>
            </a:r>
            <a:r>
              <a:rPr lang="en-US" altLang="ko-KR" sz="1200" dirty="0"/>
              <a:t>IN ECO</a:t>
            </a:r>
            <a:r>
              <a:rPr lang="ko-KR" altLang="en-US" sz="1200" dirty="0"/>
              <a:t> 발행 여부 확인 </a:t>
            </a:r>
            <a:r>
              <a:rPr lang="en-US" altLang="ko-KR" sz="1200" dirty="0"/>
              <a:t>(</a:t>
            </a:r>
            <a:r>
              <a:rPr lang="ko-KR" altLang="en-US" sz="1200" dirty="0"/>
              <a:t>붉은색 화면 변경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en-US" altLang="ko-KR" sz="1200" dirty="0"/>
              <a:t>3. ECO </a:t>
            </a:r>
            <a:r>
              <a:rPr lang="ko-KR" altLang="en-US" sz="1200" dirty="0"/>
              <a:t>공유 활동</a:t>
            </a:r>
            <a:endParaRPr lang="en-US" altLang="ko-KR" sz="1200" dirty="0"/>
          </a:p>
          <a:p>
            <a:r>
              <a:rPr lang="en-US" altLang="ko-KR" sz="1200" dirty="0"/>
              <a:t>  - ECO</a:t>
            </a:r>
            <a:r>
              <a:rPr lang="ko-KR" altLang="en-US" sz="1200" dirty="0"/>
              <a:t>심의회 이력 관리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4. </a:t>
            </a:r>
            <a:r>
              <a:rPr lang="ko-KR" altLang="en-US" sz="1200" dirty="0"/>
              <a:t>내부 </a:t>
            </a:r>
            <a:r>
              <a:rPr lang="en-US" altLang="ko-KR" sz="1200" dirty="0"/>
              <a:t>ECO</a:t>
            </a:r>
            <a:r>
              <a:rPr lang="ko-KR" altLang="en-US" sz="1200" dirty="0"/>
              <a:t> 관리 현황 </a:t>
            </a:r>
            <a:endParaRPr lang="en-US" altLang="ko-KR" sz="1200" dirty="0"/>
          </a:p>
          <a:p>
            <a:r>
              <a:rPr lang="en-US" altLang="ko-KR" sz="1200" dirty="0"/>
              <a:t>  - ECO</a:t>
            </a:r>
            <a:r>
              <a:rPr lang="ko-KR" altLang="en-US" sz="1200" dirty="0"/>
              <a:t>관련 재고 현황 관리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5. </a:t>
            </a:r>
            <a:r>
              <a:rPr lang="ko-KR" altLang="en-US" sz="1200" dirty="0"/>
              <a:t>첫 출하 여부 검사 관리 확인</a:t>
            </a:r>
            <a:endParaRPr lang="en-US" altLang="ko-KR" sz="1200" dirty="0"/>
          </a:p>
          <a:p>
            <a:r>
              <a:rPr lang="en-US" altLang="ko-KR" sz="1200" dirty="0"/>
              <a:t>  - </a:t>
            </a:r>
            <a:r>
              <a:rPr lang="ko-KR" altLang="en-US" sz="1200" dirty="0"/>
              <a:t>출하 검사 서류 등록 및 열람 가능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6. </a:t>
            </a:r>
            <a:r>
              <a:rPr lang="ko-KR" altLang="en-US" sz="1200" dirty="0"/>
              <a:t>출하시 </a:t>
            </a:r>
            <a:r>
              <a:rPr lang="en-US" altLang="ko-KR" sz="1200" dirty="0"/>
              <a:t>ECO </a:t>
            </a:r>
            <a:r>
              <a:rPr lang="ko-KR" altLang="en-US" sz="1200" dirty="0"/>
              <a:t>적용 여부 확인 </a:t>
            </a:r>
            <a:endParaRPr lang="en-US" altLang="ko-KR" sz="1200" dirty="0"/>
          </a:p>
          <a:p>
            <a:r>
              <a:rPr lang="en-US" altLang="ko-KR" sz="1200" dirty="0"/>
              <a:t>  - </a:t>
            </a:r>
            <a:r>
              <a:rPr lang="ko-KR" altLang="en-US" sz="1200" dirty="0"/>
              <a:t>출하 품번 엑셀 </a:t>
            </a:r>
            <a:r>
              <a:rPr lang="en-US" altLang="ko-KR" sz="1200" dirty="0"/>
              <a:t>LIST</a:t>
            </a:r>
            <a:r>
              <a:rPr lang="ko-KR" altLang="en-US" sz="1200" dirty="0"/>
              <a:t>를 조회하여 </a:t>
            </a:r>
            <a:r>
              <a:rPr lang="en-US" altLang="ko-KR" sz="1200" dirty="0"/>
              <a:t>ECO</a:t>
            </a:r>
            <a:r>
              <a:rPr lang="ko-KR" altLang="en-US" sz="1200" dirty="0"/>
              <a:t>관련 사항 여부 확인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7. </a:t>
            </a:r>
            <a:r>
              <a:rPr lang="ko-KR" altLang="en-US" sz="1200" dirty="0"/>
              <a:t>적용일 사전 확인</a:t>
            </a:r>
            <a:endParaRPr lang="en-US" altLang="ko-KR" sz="1200" dirty="0"/>
          </a:p>
          <a:p>
            <a:r>
              <a:rPr lang="en-US" altLang="ko-KR" sz="1200" dirty="0"/>
              <a:t>  - </a:t>
            </a:r>
            <a:r>
              <a:rPr lang="ko-KR" altLang="en-US" sz="1200" dirty="0"/>
              <a:t>적용일 </a:t>
            </a:r>
            <a:r>
              <a:rPr lang="en-US" altLang="ko-KR" sz="1200" dirty="0"/>
              <a:t>10</a:t>
            </a:r>
            <a:r>
              <a:rPr lang="ko-KR" altLang="en-US" sz="1200" dirty="0"/>
              <a:t>전에 색상을 표시하여 관리 하도록 함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72BF619-653B-4ACB-A517-039A548A8604}"/>
              </a:ext>
            </a:extLst>
          </p:cNvPr>
          <p:cNvCxnSpPr/>
          <p:nvPr/>
        </p:nvCxnSpPr>
        <p:spPr>
          <a:xfrm>
            <a:off x="546931" y="5410200"/>
            <a:ext cx="10825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4DA621D-452D-4C02-85C2-25025A92660A}"/>
              </a:ext>
            </a:extLst>
          </p:cNvPr>
          <p:cNvSpPr txBox="1"/>
          <p:nvPr/>
        </p:nvSpPr>
        <p:spPr>
          <a:xfrm>
            <a:off x="546930" y="5638800"/>
            <a:ext cx="1310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차 </a:t>
            </a:r>
            <a:r>
              <a:rPr lang="en-US" altLang="ko-KR" sz="1200" dirty="0"/>
              <a:t>UI</a:t>
            </a:r>
            <a:r>
              <a:rPr lang="ko-KR" altLang="en-US" sz="1200" dirty="0"/>
              <a:t>컨셉 미팅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BBC58D2-CCBE-480E-BEEF-B512A0099399}"/>
              </a:ext>
            </a:extLst>
          </p:cNvPr>
          <p:cNvSpPr/>
          <p:nvPr/>
        </p:nvSpPr>
        <p:spPr>
          <a:xfrm>
            <a:off x="990600" y="5295900"/>
            <a:ext cx="209550" cy="180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89F230-B372-481B-93E3-C408DDA648DA}"/>
              </a:ext>
            </a:extLst>
          </p:cNvPr>
          <p:cNvSpPr txBox="1"/>
          <p:nvPr/>
        </p:nvSpPr>
        <p:spPr>
          <a:xfrm>
            <a:off x="881062" y="4970153"/>
            <a:ext cx="8096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9/01</a:t>
            </a:r>
            <a:endParaRPr lang="ko-KR" altLang="en-US" sz="110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6EDF248-A717-4368-9F3E-6DAA646A3829}"/>
              </a:ext>
            </a:extLst>
          </p:cNvPr>
          <p:cNvSpPr/>
          <p:nvPr/>
        </p:nvSpPr>
        <p:spPr>
          <a:xfrm>
            <a:off x="2781300" y="5302880"/>
            <a:ext cx="209550" cy="180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700312-F8AD-4F7D-A332-96556C8BAF6D}"/>
              </a:ext>
            </a:extLst>
          </p:cNvPr>
          <p:cNvSpPr txBox="1"/>
          <p:nvPr/>
        </p:nvSpPr>
        <p:spPr>
          <a:xfrm>
            <a:off x="2230852" y="5638800"/>
            <a:ext cx="1310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</a:t>
            </a:r>
            <a:r>
              <a:rPr lang="ko-KR" altLang="en-US" sz="1200" dirty="0"/>
              <a:t>차 </a:t>
            </a:r>
            <a:r>
              <a:rPr lang="en-US" altLang="ko-KR" sz="1200" dirty="0"/>
              <a:t>UI</a:t>
            </a:r>
            <a:r>
              <a:rPr lang="ko-KR" altLang="en-US" sz="1200" dirty="0"/>
              <a:t>컨셉 미팅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2F3489-7814-4286-8D39-D1ED30D6220C}"/>
              </a:ext>
            </a:extLst>
          </p:cNvPr>
          <p:cNvSpPr txBox="1"/>
          <p:nvPr/>
        </p:nvSpPr>
        <p:spPr>
          <a:xfrm>
            <a:off x="2677059" y="4974603"/>
            <a:ext cx="8096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9/30</a:t>
            </a:r>
            <a:endParaRPr lang="ko-KR" alt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2CF065-1401-4EEE-9C00-FF1004CE924E}"/>
              </a:ext>
            </a:extLst>
          </p:cNvPr>
          <p:cNvSpPr txBox="1"/>
          <p:nvPr/>
        </p:nvSpPr>
        <p:spPr>
          <a:xfrm>
            <a:off x="3745327" y="5637512"/>
            <a:ext cx="16553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1</a:t>
            </a:r>
            <a:r>
              <a:rPr lang="ko-KR" altLang="en-US" sz="1200" dirty="0"/>
              <a:t>차 </a:t>
            </a:r>
            <a:r>
              <a:rPr lang="en-US" altLang="ko-KR" sz="1200" dirty="0"/>
              <a:t>UI </a:t>
            </a:r>
            <a:r>
              <a:rPr lang="ko-KR" altLang="en-US" sz="1200" dirty="0"/>
              <a:t>현황 미팅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1F652D3-B042-4F9B-8687-8F5F8B6E3505}"/>
              </a:ext>
            </a:extLst>
          </p:cNvPr>
          <p:cNvSpPr/>
          <p:nvPr/>
        </p:nvSpPr>
        <p:spPr>
          <a:xfrm>
            <a:off x="4263505" y="5319716"/>
            <a:ext cx="209550" cy="18096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DD327D-FD7B-49D8-A1D0-3596249F5865}"/>
              </a:ext>
            </a:extLst>
          </p:cNvPr>
          <p:cNvSpPr txBox="1"/>
          <p:nvPr/>
        </p:nvSpPr>
        <p:spPr>
          <a:xfrm>
            <a:off x="4068243" y="4984120"/>
            <a:ext cx="8096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10/04</a:t>
            </a:r>
            <a:endParaRPr lang="ko-KR" alt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9D60D6-0CCF-48B8-8A25-4D0E7E689270}"/>
              </a:ext>
            </a:extLst>
          </p:cNvPr>
          <p:cNvSpPr txBox="1"/>
          <p:nvPr/>
        </p:nvSpPr>
        <p:spPr>
          <a:xfrm>
            <a:off x="5429249" y="5637511"/>
            <a:ext cx="2240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 </a:t>
            </a:r>
            <a:r>
              <a:rPr lang="ko-KR" altLang="en-US" sz="1200" dirty="0"/>
              <a:t>주 </a:t>
            </a:r>
            <a:r>
              <a:rPr lang="en-US" altLang="ko-KR" sz="1200" dirty="0"/>
              <a:t>1</a:t>
            </a:r>
            <a:r>
              <a:rPr lang="ko-KR" altLang="en-US" sz="1200" dirty="0"/>
              <a:t>회 진척현황 미팅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40420D8-1FAD-43D3-840D-51FCF360A5D3}"/>
              </a:ext>
            </a:extLst>
          </p:cNvPr>
          <p:cNvCxnSpPr/>
          <p:nvPr/>
        </p:nvCxnSpPr>
        <p:spPr>
          <a:xfrm>
            <a:off x="5400675" y="5245730"/>
            <a:ext cx="1809750" cy="0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AF599CBD-EB3D-4948-8E7F-1C3BFA54049F}"/>
              </a:ext>
            </a:extLst>
          </p:cNvPr>
          <p:cNvSpPr/>
          <p:nvPr/>
        </p:nvSpPr>
        <p:spPr>
          <a:xfrm>
            <a:off x="7718947" y="5302879"/>
            <a:ext cx="209550" cy="1809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914D83-9ABC-4DCC-BCC4-97BACF9E9DD9}"/>
              </a:ext>
            </a:extLst>
          </p:cNvPr>
          <p:cNvSpPr txBox="1"/>
          <p:nvPr/>
        </p:nvSpPr>
        <p:spPr>
          <a:xfrm>
            <a:off x="7523684" y="4996027"/>
            <a:ext cx="8096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10/31</a:t>
            </a:r>
            <a:endParaRPr lang="ko-KR" altLang="en-US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B4A179-CEE8-4D74-A63F-8F6A7F8A4ACB}"/>
              </a:ext>
            </a:extLst>
          </p:cNvPr>
          <p:cNvSpPr txBox="1"/>
          <p:nvPr/>
        </p:nvSpPr>
        <p:spPr>
          <a:xfrm>
            <a:off x="7288627" y="5636410"/>
            <a:ext cx="1310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T1 </a:t>
            </a:r>
            <a:r>
              <a:rPr lang="ko-KR" altLang="en-US" sz="1200" dirty="0"/>
              <a:t>시뮬레이션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42D59B3-C0B1-4C40-A95E-CBEF81C6A5E8}"/>
              </a:ext>
            </a:extLst>
          </p:cNvPr>
          <p:cNvSpPr/>
          <p:nvPr/>
        </p:nvSpPr>
        <p:spPr>
          <a:xfrm>
            <a:off x="9126336" y="5305418"/>
            <a:ext cx="209550" cy="1809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D8E324-FED4-48A8-ABC1-505787167ECE}"/>
              </a:ext>
            </a:extLst>
          </p:cNvPr>
          <p:cNvSpPr txBox="1"/>
          <p:nvPr/>
        </p:nvSpPr>
        <p:spPr>
          <a:xfrm>
            <a:off x="8931074" y="4984120"/>
            <a:ext cx="8096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12/30</a:t>
            </a:r>
            <a:endParaRPr lang="ko-KR" altLang="en-US" sz="11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19EA44-BBEB-427B-99FD-CEEC705402C8}"/>
              </a:ext>
            </a:extLst>
          </p:cNvPr>
          <p:cNvSpPr txBox="1"/>
          <p:nvPr/>
        </p:nvSpPr>
        <p:spPr>
          <a:xfrm>
            <a:off x="8631344" y="5631812"/>
            <a:ext cx="1310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T2 </a:t>
            </a:r>
            <a:r>
              <a:rPr lang="ko-KR" altLang="en-US" sz="1200" dirty="0"/>
              <a:t>시뮬레이션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1FCD569-8FBE-4E4C-80DC-58EC9621334E}"/>
              </a:ext>
            </a:extLst>
          </p:cNvPr>
          <p:cNvSpPr/>
          <p:nvPr/>
        </p:nvSpPr>
        <p:spPr>
          <a:xfrm>
            <a:off x="10758980" y="5319716"/>
            <a:ext cx="209550" cy="1809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B13249-2B3E-40E6-B9D9-B248D632A090}"/>
              </a:ext>
            </a:extLst>
          </p:cNvPr>
          <p:cNvSpPr txBox="1"/>
          <p:nvPr/>
        </p:nvSpPr>
        <p:spPr>
          <a:xfrm>
            <a:off x="10581969" y="4970153"/>
            <a:ext cx="8096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1/30</a:t>
            </a:r>
            <a:endParaRPr lang="ko-KR" altLang="en-US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94B574-6237-43CC-9C77-5A3F29784EE6}"/>
              </a:ext>
            </a:extLst>
          </p:cNvPr>
          <p:cNvSpPr txBox="1"/>
          <p:nvPr/>
        </p:nvSpPr>
        <p:spPr>
          <a:xfrm>
            <a:off x="10177469" y="5647857"/>
            <a:ext cx="16186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적용하여 수정 보완</a:t>
            </a:r>
          </a:p>
        </p:txBody>
      </p:sp>
    </p:spTree>
    <p:extLst>
      <p:ext uri="{BB962C8B-B14F-4D97-AF65-F5344CB8AC3E}">
        <p14:creationId xmlns:p14="http://schemas.microsoft.com/office/powerpoint/2010/main" val="1248890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F44E560-641B-4D7F-ABDC-A03F7B786658}"/>
              </a:ext>
            </a:extLst>
          </p:cNvPr>
          <p:cNvSpPr/>
          <p:nvPr/>
        </p:nvSpPr>
        <p:spPr>
          <a:xfrm>
            <a:off x="135451" y="191497"/>
            <a:ext cx="2939753" cy="4614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ECO</a:t>
            </a:r>
            <a:r>
              <a:rPr lang="ko-KR" altLang="en-US" dirty="0">
                <a:solidFill>
                  <a:schemeClr val="tx1"/>
                </a:solidFill>
              </a:rPr>
              <a:t> 관리 프로세서 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356671F-922C-4445-90CE-4704CABFFD0B}"/>
              </a:ext>
            </a:extLst>
          </p:cNvPr>
          <p:cNvSpPr/>
          <p:nvPr/>
        </p:nvSpPr>
        <p:spPr>
          <a:xfrm>
            <a:off x="309254" y="876301"/>
            <a:ext cx="1350449" cy="46147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ECO </a:t>
            </a:r>
            <a:r>
              <a:rPr lang="ko-KR" altLang="en-US" sz="1050" dirty="0">
                <a:solidFill>
                  <a:schemeClr val="tx1"/>
                </a:solidFill>
              </a:rPr>
              <a:t>접수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80AACDD-007C-4C34-97F3-C47F96E1AD05}"/>
              </a:ext>
            </a:extLst>
          </p:cNvPr>
          <p:cNvSpPr/>
          <p:nvPr/>
        </p:nvSpPr>
        <p:spPr>
          <a:xfrm>
            <a:off x="309254" y="1605644"/>
            <a:ext cx="1350449" cy="46147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ECO</a:t>
            </a:r>
            <a:r>
              <a:rPr lang="ko-KR" altLang="en-US" sz="1050" dirty="0">
                <a:solidFill>
                  <a:schemeClr val="tx1"/>
                </a:solidFill>
              </a:rPr>
              <a:t>관리 시스템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F027146-F39A-4300-B690-1700D2BBA993}"/>
              </a:ext>
            </a:extLst>
          </p:cNvPr>
          <p:cNvSpPr/>
          <p:nvPr/>
        </p:nvSpPr>
        <p:spPr>
          <a:xfrm>
            <a:off x="309254" y="2334987"/>
            <a:ext cx="1350449" cy="46147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ECO </a:t>
            </a:r>
            <a:r>
              <a:rPr lang="ko-KR" altLang="en-US" sz="1050" dirty="0">
                <a:solidFill>
                  <a:schemeClr val="tx1"/>
                </a:solidFill>
              </a:rPr>
              <a:t>심의회 진행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0523866-1102-4976-896B-79F9E632E706}"/>
              </a:ext>
            </a:extLst>
          </p:cNvPr>
          <p:cNvSpPr/>
          <p:nvPr/>
        </p:nvSpPr>
        <p:spPr>
          <a:xfrm>
            <a:off x="309254" y="3064330"/>
            <a:ext cx="1350449" cy="46147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ECO </a:t>
            </a:r>
            <a:r>
              <a:rPr lang="ko-KR" altLang="en-US" sz="1050" dirty="0">
                <a:solidFill>
                  <a:schemeClr val="tx1"/>
                </a:solidFill>
              </a:rPr>
              <a:t>심의회 결과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시스템 등록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E8446B0-BB07-4D8D-B614-283C08A9488F}"/>
              </a:ext>
            </a:extLst>
          </p:cNvPr>
          <p:cNvSpPr/>
          <p:nvPr/>
        </p:nvSpPr>
        <p:spPr>
          <a:xfrm>
            <a:off x="309254" y="3793673"/>
            <a:ext cx="1350449" cy="46147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부서별 확인 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DEA0F6A-9BE6-48DA-B0BC-B97CCC675A0A}"/>
              </a:ext>
            </a:extLst>
          </p:cNvPr>
          <p:cNvSpPr/>
          <p:nvPr/>
        </p:nvSpPr>
        <p:spPr>
          <a:xfrm>
            <a:off x="309254" y="4523016"/>
            <a:ext cx="1350449" cy="46147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재고소진 관리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967BEC6-EA92-4840-89D6-5977D7891294}"/>
              </a:ext>
            </a:extLst>
          </p:cNvPr>
          <p:cNvSpPr/>
          <p:nvPr/>
        </p:nvSpPr>
        <p:spPr>
          <a:xfrm>
            <a:off x="309254" y="5252359"/>
            <a:ext cx="1350449" cy="46147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ECO</a:t>
            </a:r>
            <a:r>
              <a:rPr lang="ko-KR" altLang="en-US" sz="1050" dirty="0">
                <a:solidFill>
                  <a:schemeClr val="tx1"/>
                </a:solidFill>
              </a:rPr>
              <a:t>적용 첫 </a:t>
            </a:r>
            <a:r>
              <a:rPr lang="en-US" altLang="ko-KR" sz="1050" dirty="0">
                <a:solidFill>
                  <a:schemeClr val="tx1"/>
                </a:solidFill>
              </a:rPr>
              <a:t>Lot</a:t>
            </a:r>
          </a:p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검사 등록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00F532E-709D-4DA6-8121-D7F392E2CD3E}"/>
              </a:ext>
            </a:extLst>
          </p:cNvPr>
          <p:cNvSpPr/>
          <p:nvPr/>
        </p:nvSpPr>
        <p:spPr>
          <a:xfrm>
            <a:off x="297825" y="5981699"/>
            <a:ext cx="1350449" cy="46147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법인장 승인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시스템 완료 등록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8B7BE8-66D2-4F1A-B498-2680E406FF65}"/>
              </a:ext>
            </a:extLst>
          </p:cNvPr>
          <p:cNvSpPr txBox="1"/>
          <p:nvPr/>
        </p:nvSpPr>
        <p:spPr>
          <a:xfrm>
            <a:off x="1828800" y="876301"/>
            <a:ext cx="41276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.</a:t>
            </a:r>
            <a:r>
              <a:rPr lang="ko-KR" altLang="en-US" sz="1050" dirty="0"/>
              <a:t> </a:t>
            </a:r>
            <a:r>
              <a:rPr lang="en-US" altLang="ko-KR" sz="1050" dirty="0"/>
              <a:t>LG CPC</a:t>
            </a:r>
            <a:r>
              <a:rPr lang="ko-KR" altLang="en-US" sz="1050" dirty="0"/>
              <a:t> 접수 및 도면 접수 시 등록 </a:t>
            </a:r>
            <a:endParaRPr lang="en-US" altLang="ko-KR" sz="1050" dirty="0"/>
          </a:p>
          <a:p>
            <a:r>
              <a:rPr lang="en-US" altLang="ko-KR" sz="1050" dirty="0"/>
              <a:t>. ECO</a:t>
            </a:r>
            <a:r>
              <a:rPr lang="ko-KR" altLang="en-US" sz="1050" dirty="0"/>
              <a:t>관리 시스템 등록 </a:t>
            </a:r>
            <a:r>
              <a:rPr lang="en-US" altLang="ko-KR" sz="1050" dirty="0"/>
              <a:t>Excel </a:t>
            </a:r>
            <a:r>
              <a:rPr lang="ko-KR" altLang="en-US" sz="1050" dirty="0"/>
              <a:t>다운받아 누락 여부 확인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1E7F95-20C6-44A1-9D48-7BC768116334}"/>
              </a:ext>
            </a:extLst>
          </p:cNvPr>
          <p:cNvSpPr txBox="1"/>
          <p:nvPr/>
        </p:nvSpPr>
        <p:spPr>
          <a:xfrm>
            <a:off x="1828799" y="1557819"/>
            <a:ext cx="41276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.</a:t>
            </a:r>
            <a:r>
              <a:rPr lang="ko-KR" altLang="en-US" sz="1050" dirty="0"/>
              <a:t> 시스템 등록 및 현황 조회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A8CFEDA-D24B-42E8-9E48-242062404DA9}"/>
              </a:ext>
            </a:extLst>
          </p:cNvPr>
          <p:cNvSpPr txBox="1"/>
          <p:nvPr/>
        </p:nvSpPr>
        <p:spPr>
          <a:xfrm>
            <a:off x="1828796" y="5988773"/>
            <a:ext cx="412761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.</a:t>
            </a:r>
            <a:r>
              <a:rPr lang="ko-KR" altLang="en-US" sz="1050" dirty="0"/>
              <a:t> 진행 현황 보고서 작성 </a:t>
            </a:r>
            <a:endParaRPr lang="en-US" altLang="ko-KR" sz="1050" dirty="0"/>
          </a:p>
          <a:p>
            <a:r>
              <a:rPr lang="en-US" altLang="ko-KR" sz="1050" dirty="0"/>
              <a:t> - ECO </a:t>
            </a:r>
            <a:r>
              <a:rPr lang="ko-KR" altLang="en-US" sz="1050" dirty="0"/>
              <a:t>적용 상태 및 </a:t>
            </a:r>
            <a:r>
              <a:rPr lang="en-US" altLang="ko-KR" sz="1050" dirty="0"/>
              <a:t>ISSUE </a:t>
            </a:r>
          </a:p>
          <a:p>
            <a:r>
              <a:rPr lang="en-US" altLang="ko-KR" sz="1050" dirty="0"/>
              <a:t> - LOSS </a:t>
            </a:r>
            <a:r>
              <a:rPr lang="ko-KR" altLang="en-US" sz="1050" dirty="0"/>
              <a:t>보고 </a:t>
            </a:r>
            <a:r>
              <a:rPr lang="en-US" altLang="ko-KR" sz="1050" dirty="0"/>
              <a:t>( </a:t>
            </a:r>
            <a:r>
              <a:rPr lang="ko-KR" altLang="en-US" sz="1050" dirty="0"/>
              <a:t>폐기 및 공수 증가</a:t>
            </a:r>
            <a:r>
              <a:rPr lang="en-US" altLang="ko-KR" sz="1050" dirty="0"/>
              <a:t>, </a:t>
            </a:r>
            <a:r>
              <a:rPr lang="ko-KR" altLang="en-US" sz="1050" dirty="0"/>
              <a:t>비용 손실등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4DBF1C-BBBA-4DEE-B425-CF4A1568326D}"/>
              </a:ext>
            </a:extLst>
          </p:cNvPr>
          <p:cNvSpPr txBox="1"/>
          <p:nvPr/>
        </p:nvSpPr>
        <p:spPr>
          <a:xfrm>
            <a:off x="1828799" y="2289010"/>
            <a:ext cx="412761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. </a:t>
            </a:r>
            <a:r>
              <a:rPr lang="ko-KR" altLang="en-US" sz="1050" dirty="0"/>
              <a:t>상세 내용 전달</a:t>
            </a:r>
            <a:endParaRPr lang="en-US" altLang="ko-KR" sz="1050" dirty="0"/>
          </a:p>
          <a:p>
            <a:r>
              <a:rPr lang="en-US" altLang="ko-KR" sz="1050" dirty="0"/>
              <a:t>.</a:t>
            </a:r>
            <a:r>
              <a:rPr lang="ko-KR" altLang="en-US" sz="1050" dirty="0"/>
              <a:t> 적용시점 및 재고 격리 및 처리안 </a:t>
            </a:r>
            <a:endParaRPr lang="en-US" altLang="ko-KR" sz="1050" dirty="0"/>
          </a:p>
          <a:p>
            <a:r>
              <a:rPr lang="en-US" altLang="ko-KR" sz="1050" dirty="0"/>
              <a:t>. </a:t>
            </a:r>
            <a:r>
              <a:rPr lang="ko-KR" altLang="en-US" sz="1050" dirty="0"/>
              <a:t>예상 손실  파악 및 만회 방안 </a:t>
            </a:r>
            <a:endParaRPr lang="en-US" altLang="ko-KR" sz="105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E580E8C-C081-4C21-92E0-E42047DD62D4}"/>
              </a:ext>
            </a:extLst>
          </p:cNvPr>
          <p:cNvSpPr txBox="1"/>
          <p:nvPr/>
        </p:nvSpPr>
        <p:spPr>
          <a:xfrm>
            <a:off x="1828798" y="3018353"/>
            <a:ext cx="41276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. </a:t>
            </a:r>
            <a:r>
              <a:rPr lang="ko-KR" altLang="en-US" sz="1050" dirty="0"/>
              <a:t>심의회 결과 내용 시스템 등록  </a:t>
            </a:r>
            <a:endParaRPr lang="en-US" altLang="ko-KR" sz="105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2771A6-1779-48E8-B84E-D53F9D245B1E}"/>
              </a:ext>
            </a:extLst>
          </p:cNvPr>
          <p:cNvSpPr txBox="1"/>
          <p:nvPr/>
        </p:nvSpPr>
        <p:spPr>
          <a:xfrm>
            <a:off x="1828797" y="3793673"/>
            <a:ext cx="41276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. </a:t>
            </a:r>
            <a:r>
              <a:rPr lang="ko-KR" altLang="en-US" sz="1050" dirty="0"/>
              <a:t>심의회 결과 등록 및 각 부서 내용 전달 확인 </a:t>
            </a:r>
            <a:endParaRPr lang="en-US" altLang="ko-KR" sz="105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F62C066-90B4-4A11-A1EF-6EE026503C54}"/>
              </a:ext>
            </a:extLst>
          </p:cNvPr>
          <p:cNvSpPr txBox="1"/>
          <p:nvPr/>
        </p:nvSpPr>
        <p:spPr>
          <a:xfrm>
            <a:off x="1828796" y="4521165"/>
            <a:ext cx="41276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. </a:t>
            </a:r>
            <a:r>
              <a:rPr lang="ko-KR" altLang="en-US" sz="1050" dirty="0"/>
              <a:t>기존 재고 및 격리 재고  격리</a:t>
            </a:r>
            <a:endParaRPr lang="en-US" altLang="ko-KR" sz="1050" dirty="0"/>
          </a:p>
          <a:p>
            <a:r>
              <a:rPr lang="en-US" altLang="ko-KR" sz="1050" dirty="0"/>
              <a:t>. ECO</a:t>
            </a:r>
            <a:r>
              <a:rPr lang="ko-KR" altLang="en-US" sz="1050" dirty="0"/>
              <a:t>적용 전 재고 입출고 관리 및 예상 소진 일정 확인</a:t>
            </a:r>
            <a:endParaRPr lang="en-US" altLang="ko-KR" sz="105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B33F917-A7EE-47BC-9109-E31AABF0FD6F}"/>
              </a:ext>
            </a:extLst>
          </p:cNvPr>
          <p:cNvSpPr txBox="1"/>
          <p:nvPr/>
        </p:nvSpPr>
        <p:spPr>
          <a:xfrm>
            <a:off x="1828795" y="5254969"/>
            <a:ext cx="578550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. ECO </a:t>
            </a:r>
            <a:r>
              <a:rPr lang="ko-KR" altLang="en-US" sz="1050" dirty="0"/>
              <a:t>적용 첫 </a:t>
            </a:r>
            <a:r>
              <a:rPr lang="en-US" altLang="ko-KR" sz="1050" dirty="0"/>
              <a:t>Lot </a:t>
            </a:r>
            <a:r>
              <a:rPr lang="ko-KR" altLang="en-US" sz="1050" dirty="0"/>
              <a:t>검사 성적서 등록</a:t>
            </a:r>
            <a:endParaRPr lang="en-US" altLang="ko-KR" sz="1050" dirty="0"/>
          </a:p>
          <a:p>
            <a:r>
              <a:rPr lang="en-US" altLang="ko-KR" sz="1050" dirty="0"/>
              <a:t>. </a:t>
            </a:r>
            <a:r>
              <a:rPr lang="ko-KR" altLang="en-US" sz="1050" dirty="0"/>
              <a:t>기존 재고 및 적용 시점이 경과 되었는데 검사 성적서 등록 되지 않으면 </a:t>
            </a:r>
            <a:r>
              <a:rPr lang="en-US" altLang="ko-KR" sz="1050" dirty="0"/>
              <a:t>RED</a:t>
            </a:r>
            <a:r>
              <a:rPr lang="ko-KR" altLang="en-US" sz="1050" dirty="0"/>
              <a:t>색상 표기 </a:t>
            </a:r>
            <a:endParaRPr lang="en-US" altLang="ko-KR" sz="1050" dirty="0"/>
          </a:p>
        </p:txBody>
      </p:sp>
    </p:spTree>
    <p:extLst>
      <p:ext uri="{BB962C8B-B14F-4D97-AF65-F5344CB8AC3E}">
        <p14:creationId xmlns:p14="http://schemas.microsoft.com/office/powerpoint/2010/main" val="2313269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1F20ACE-4ABB-4482-95F2-35A10EA5D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83" y="995036"/>
            <a:ext cx="3347372" cy="1807985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DCB0A3D-E3EA-49AF-BAC1-D7A3786293A5}"/>
              </a:ext>
            </a:extLst>
          </p:cNvPr>
          <p:cNvCxnSpPr/>
          <p:nvPr/>
        </p:nvCxnSpPr>
        <p:spPr>
          <a:xfrm>
            <a:off x="0" y="61529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4D9E318-DA2E-4442-90F9-CC422FC8CD16}"/>
              </a:ext>
            </a:extLst>
          </p:cNvPr>
          <p:cNvSpPr txBox="1"/>
          <p:nvPr/>
        </p:nvSpPr>
        <p:spPr>
          <a:xfrm>
            <a:off x="68366" y="76912"/>
            <a:ext cx="570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Main Login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B8E030-88BF-4B80-AC87-491EE4223DAA}"/>
              </a:ext>
            </a:extLst>
          </p:cNvPr>
          <p:cNvSpPr txBox="1"/>
          <p:nvPr/>
        </p:nvSpPr>
        <p:spPr>
          <a:xfrm>
            <a:off x="3854153" y="1222049"/>
            <a:ext cx="780231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. </a:t>
            </a:r>
            <a:r>
              <a:rPr lang="ko-KR" altLang="en-US" sz="1100" dirty="0"/>
              <a:t>일반 로그인과 </a:t>
            </a:r>
            <a:r>
              <a:rPr lang="en-US" altLang="ko-KR" sz="1100" dirty="0"/>
              <a:t>View</a:t>
            </a:r>
            <a:r>
              <a:rPr lang="ko-KR" altLang="en-US" sz="1100" dirty="0"/>
              <a:t>로그인으로 구분</a:t>
            </a:r>
            <a:endParaRPr lang="en-US" altLang="ko-KR" sz="1100" dirty="0"/>
          </a:p>
          <a:p>
            <a:r>
              <a:rPr lang="en-US" altLang="ko-KR" sz="1100" dirty="0"/>
              <a:t> - </a:t>
            </a:r>
            <a:r>
              <a:rPr lang="ko-KR" altLang="en-US" sz="1100" dirty="0"/>
              <a:t>각부서 </a:t>
            </a:r>
            <a:r>
              <a:rPr lang="en-US" altLang="ko-KR" sz="1100" dirty="0"/>
              <a:t>ECO</a:t>
            </a:r>
            <a:r>
              <a:rPr lang="ko-KR" altLang="en-US" sz="1100" dirty="0"/>
              <a:t>담당자 결제 및 업데이트 </a:t>
            </a:r>
            <a:endParaRPr lang="en-US" altLang="ko-KR" sz="1100" dirty="0"/>
          </a:p>
          <a:p>
            <a:r>
              <a:rPr lang="en-US" altLang="ko-KR" sz="1100" dirty="0"/>
              <a:t> - </a:t>
            </a:r>
            <a:r>
              <a:rPr lang="ko-KR" altLang="en-US" sz="1100" dirty="0"/>
              <a:t>이하 </a:t>
            </a:r>
            <a:r>
              <a:rPr lang="en-US" altLang="ko-KR" sz="1100" dirty="0"/>
              <a:t>View</a:t>
            </a:r>
            <a:r>
              <a:rPr lang="ko-KR" altLang="en-US" sz="1100" dirty="0"/>
              <a:t>가능하도록 함</a:t>
            </a:r>
            <a:r>
              <a:rPr lang="en-US" altLang="ko-KR" sz="1100" dirty="0"/>
              <a:t>.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/>
              <a:t>Bedakan antara login umum dan login tampilan.</a:t>
            </a:r>
          </a:p>
          <a:p>
            <a:r>
              <a:rPr lang="en-US" altLang="ko-KR" sz="1100" dirty="0"/>
              <a:t>- Hanya staf ECO di setiap departemen yang dapat melakukan pembayaran dan pembaruan.</a:t>
            </a:r>
          </a:p>
          <a:p>
            <a:r>
              <a:rPr lang="en-US" altLang="ko-KR" sz="1100" dirty="0"/>
              <a:t>- Orang lain dapat melihat informasi tersebut.</a:t>
            </a:r>
            <a:endParaRPr lang="ko-KR" altLang="en-US" sz="11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58600E2-4BEE-4F3A-B471-FA6D450A8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82" y="2891185"/>
            <a:ext cx="10508401" cy="3612163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C235BC-3986-4F74-AB4F-F3B6ADB1522D}"/>
              </a:ext>
            </a:extLst>
          </p:cNvPr>
          <p:cNvSpPr/>
          <p:nvPr/>
        </p:nvSpPr>
        <p:spPr>
          <a:xfrm>
            <a:off x="293482" y="6086528"/>
            <a:ext cx="1760433" cy="5581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MENU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LIST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F5073B0-3870-48BB-A88F-21CFA86FAF3B}"/>
              </a:ext>
            </a:extLst>
          </p:cNvPr>
          <p:cNvSpPr/>
          <p:nvPr/>
        </p:nvSpPr>
        <p:spPr>
          <a:xfrm>
            <a:off x="2918388" y="4775209"/>
            <a:ext cx="2287349" cy="565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사용 인원수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Jumlah pengguna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0839E87-4491-4679-BE59-20D569C429E4}"/>
              </a:ext>
            </a:extLst>
          </p:cNvPr>
          <p:cNvSpPr/>
          <p:nvPr/>
        </p:nvSpPr>
        <p:spPr>
          <a:xfrm>
            <a:off x="1529697" y="3965249"/>
            <a:ext cx="524218" cy="5469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8B338F50-8EF6-415F-9508-B8A22715AA54}"/>
              </a:ext>
            </a:extLst>
          </p:cNvPr>
          <p:cNvCxnSpPr>
            <a:cxnSpLocks/>
            <a:stCxn id="17" idx="4"/>
            <a:endCxn id="16" idx="1"/>
          </p:cNvCxnSpPr>
          <p:nvPr/>
        </p:nvCxnSpPr>
        <p:spPr>
          <a:xfrm rot="16200000" flipH="1">
            <a:off x="2082220" y="4221765"/>
            <a:ext cx="545754" cy="1126582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540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16B125B-61F9-4B49-9550-CC4912C7CD5C}"/>
              </a:ext>
            </a:extLst>
          </p:cNvPr>
          <p:cNvCxnSpPr/>
          <p:nvPr/>
        </p:nvCxnSpPr>
        <p:spPr>
          <a:xfrm>
            <a:off x="0" y="61529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3BAB7CA-0894-4FF0-B3A7-26678AC922A0}"/>
              </a:ext>
            </a:extLst>
          </p:cNvPr>
          <p:cNvSpPr txBox="1"/>
          <p:nvPr/>
        </p:nvSpPr>
        <p:spPr>
          <a:xfrm>
            <a:off x="59821" y="94003"/>
            <a:ext cx="570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</a:t>
            </a:r>
            <a:r>
              <a:rPr lang="en-ID" altLang="ko-KR" dirty="0"/>
              <a:t> ECO </a:t>
            </a:r>
            <a:r>
              <a:rPr lang="en-US" altLang="ko-KR" dirty="0"/>
              <a:t>Main </a:t>
            </a:r>
            <a:r>
              <a:rPr lang="en-ID" altLang="ko-KR" dirty="0"/>
              <a:t>List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6013A9F-051F-46AE-BE59-DE5E528D4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2" y="1540693"/>
            <a:ext cx="10767701" cy="51809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82CC87-37B5-4336-8D93-167C818A703B}"/>
              </a:ext>
            </a:extLst>
          </p:cNvPr>
          <p:cNvSpPr txBox="1"/>
          <p:nvPr/>
        </p:nvSpPr>
        <p:spPr>
          <a:xfrm>
            <a:off x="222192" y="683664"/>
            <a:ext cx="3623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. </a:t>
            </a:r>
            <a:r>
              <a:rPr lang="ko-KR" altLang="en-US" sz="1200" dirty="0"/>
              <a:t>전체 현황 </a:t>
            </a:r>
            <a:r>
              <a:rPr lang="en-US" altLang="ko-KR" sz="1200" dirty="0"/>
              <a:t>LIST</a:t>
            </a:r>
            <a:r>
              <a:rPr lang="ko-KR" altLang="en-US" sz="1200" dirty="0"/>
              <a:t>를 조회 </a:t>
            </a:r>
            <a:r>
              <a:rPr lang="en-US" altLang="ko-KR" sz="1200" dirty="0"/>
              <a:t> </a:t>
            </a:r>
          </a:p>
          <a:p>
            <a:r>
              <a:rPr lang="en-US" altLang="ko-KR" sz="1200" dirty="0"/>
              <a:t>. ECO</a:t>
            </a:r>
            <a:r>
              <a:rPr lang="ko-KR" altLang="en-US" sz="1200" dirty="0"/>
              <a:t>내용을 조회 </a:t>
            </a:r>
            <a:endParaRPr lang="en-US" altLang="ko-KR" sz="1200" dirty="0"/>
          </a:p>
          <a:p>
            <a:r>
              <a:rPr lang="en-US" altLang="ko-KR" sz="1200" dirty="0"/>
              <a:t>. ECO</a:t>
            </a:r>
            <a:r>
              <a:rPr lang="ko-KR" altLang="en-US" sz="1200" dirty="0"/>
              <a:t>변경 전 재고 수량 확인 및 예상 소진 조회</a:t>
            </a:r>
            <a:endParaRPr lang="en-US" altLang="ko-KR" sz="1200" dirty="0"/>
          </a:p>
          <a:p>
            <a:r>
              <a:rPr lang="en-US" altLang="ko-KR" sz="1200" dirty="0"/>
              <a:t>. ECO </a:t>
            </a:r>
            <a:r>
              <a:rPr lang="ko-KR" altLang="en-US" sz="1200" dirty="0"/>
              <a:t>부서별 확인 및 승인 현황 조회</a:t>
            </a:r>
            <a:r>
              <a:rPr lang="en-US" altLang="ko-KR" sz="1200" dirty="0"/>
              <a:t> </a:t>
            </a:r>
            <a:r>
              <a:rPr lang="ko-KR" altLang="en-US" sz="1200" dirty="0"/>
              <a:t> 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5215E3-BFCF-41BB-B9BB-1C2D9F7F6E30}"/>
              </a:ext>
            </a:extLst>
          </p:cNvPr>
          <p:cNvSpPr txBox="1"/>
          <p:nvPr/>
        </p:nvSpPr>
        <p:spPr>
          <a:xfrm>
            <a:off x="4520726" y="683663"/>
            <a:ext cx="72867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Periksa daftar status lengkap.</a:t>
            </a:r>
          </a:p>
          <a:p>
            <a:r>
              <a:rPr lang="ko-KR" altLang="en-US" sz="1200" dirty="0"/>
              <a:t>Periksa detail ECO.</a:t>
            </a:r>
          </a:p>
          <a:p>
            <a:r>
              <a:rPr lang="ko-KR" altLang="en-US" sz="1200" dirty="0"/>
              <a:t>Periksa tingkat inventaris dan perkiraan penipisan sebelum perubahan ECO.</a:t>
            </a:r>
          </a:p>
          <a:p>
            <a:r>
              <a:rPr lang="ko-KR" altLang="en-US" sz="1200" dirty="0"/>
              <a:t>Periksa status konfirmasi dan persetujuan khusus departemen ECO.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B832FD-123E-4512-AF89-73E2EA9445C7}"/>
              </a:ext>
            </a:extLst>
          </p:cNvPr>
          <p:cNvSpPr/>
          <p:nvPr/>
        </p:nvSpPr>
        <p:spPr>
          <a:xfrm>
            <a:off x="631039" y="3901783"/>
            <a:ext cx="1273961" cy="401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등록부서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Departemen Registrasi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9B85007-D167-4C16-A5FB-D30603AFA7E7}"/>
              </a:ext>
            </a:extLst>
          </p:cNvPr>
          <p:cNvSpPr/>
          <p:nvPr/>
        </p:nvSpPr>
        <p:spPr>
          <a:xfrm>
            <a:off x="920097" y="2669849"/>
            <a:ext cx="524218" cy="5469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DFCA053A-51AF-46D5-A0CE-B8F6F1D7075F}"/>
              </a:ext>
            </a:extLst>
          </p:cNvPr>
          <p:cNvCxnSpPr>
            <a:cxnSpLocks/>
            <a:stCxn id="11" idx="4"/>
            <a:endCxn id="10" idx="1"/>
          </p:cNvCxnSpPr>
          <p:nvPr/>
        </p:nvCxnSpPr>
        <p:spPr>
          <a:xfrm rot="5400000">
            <a:off x="463666" y="3384153"/>
            <a:ext cx="885914" cy="551167"/>
          </a:xfrm>
          <a:prstGeom prst="bentConnector4">
            <a:avLst>
              <a:gd name="adj1" fmla="val 38661"/>
              <a:gd name="adj2" fmla="val 141476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56AF336-F25B-4DBA-9998-5F03BB18CFC2}"/>
              </a:ext>
            </a:extLst>
          </p:cNvPr>
          <p:cNvSpPr/>
          <p:nvPr/>
        </p:nvSpPr>
        <p:spPr>
          <a:xfrm>
            <a:off x="1399074" y="4467087"/>
            <a:ext cx="1273961" cy="401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등록 일짜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C6022B74-BF1B-49B8-8CC1-62279BA49251}"/>
              </a:ext>
            </a:extLst>
          </p:cNvPr>
          <p:cNvSpPr/>
          <p:nvPr/>
        </p:nvSpPr>
        <p:spPr>
          <a:xfrm>
            <a:off x="1654324" y="2669849"/>
            <a:ext cx="639296" cy="5469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57037A0A-44E4-48F2-A082-C44D0295460F}"/>
              </a:ext>
            </a:extLst>
          </p:cNvPr>
          <p:cNvCxnSpPr>
            <a:cxnSpLocks/>
            <a:stCxn id="21" idx="4"/>
          </p:cNvCxnSpPr>
          <p:nvPr/>
        </p:nvCxnSpPr>
        <p:spPr>
          <a:xfrm rot="16200000" flipH="1">
            <a:off x="1381017" y="3809734"/>
            <a:ext cx="1250308" cy="6439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EEC7CA8-88F9-4E9C-965D-E61434FEC737}"/>
              </a:ext>
            </a:extLst>
          </p:cNvPr>
          <p:cNvSpPr/>
          <p:nvPr/>
        </p:nvSpPr>
        <p:spPr>
          <a:xfrm>
            <a:off x="10068677" y="3978779"/>
            <a:ext cx="2111132" cy="9487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800" dirty="0">
                <a:solidFill>
                  <a:schemeClr val="tx1"/>
                </a:solidFill>
              </a:rPr>
              <a:t>. </a:t>
            </a:r>
            <a:r>
              <a:rPr lang="ko-KR" altLang="en-US" sz="800" dirty="0">
                <a:solidFill>
                  <a:schemeClr val="tx1"/>
                </a:solidFill>
              </a:rPr>
              <a:t>부서별 확인 조회 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  한부서라도 승인이 안  되어 있으면 </a:t>
            </a:r>
            <a:r>
              <a:rPr lang="en-US" altLang="ko-KR" sz="800" dirty="0">
                <a:solidFill>
                  <a:schemeClr val="tx1"/>
                </a:solidFill>
              </a:rPr>
              <a:t>RED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  </a:t>
            </a:r>
            <a:r>
              <a:rPr lang="ko-KR" altLang="en-US" sz="800" dirty="0">
                <a:solidFill>
                  <a:schemeClr val="tx1"/>
                </a:solidFill>
              </a:rPr>
              <a:t>색상 표시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. Periksa berdasarkan departemen.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Jika satu departemen saja belum menyetujui, warnanya akan ditampilkan dalam warna MERAH.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EDC22D4-9700-4901-8D99-1212D4671897}"/>
              </a:ext>
            </a:extLst>
          </p:cNvPr>
          <p:cNvSpPr/>
          <p:nvPr/>
        </p:nvSpPr>
        <p:spPr>
          <a:xfrm>
            <a:off x="10016078" y="3037319"/>
            <a:ext cx="639296" cy="5469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1B26B22D-3B0D-4522-A44F-D4DA37BC2C72}"/>
              </a:ext>
            </a:extLst>
          </p:cNvPr>
          <p:cNvCxnSpPr>
            <a:cxnSpLocks/>
            <a:stCxn id="29" idx="4"/>
            <a:endCxn id="28" idx="0"/>
          </p:cNvCxnSpPr>
          <p:nvPr/>
        </p:nvCxnSpPr>
        <p:spPr>
          <a:xfrm rot="16200000" flipH="1">
            <a:off x="10532719" y="3387255"/>
            <a:ext cx="394530" cy="78851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569A0D0-215D-419C-8B76-C43060AC1694}"/>
              </a:ext>
            </a:extLst>
          </p:cNvPr>
          <p:cNvSpPr/>
          <p:nvPr/>
        </p:nvSpPr>
        <p:spPr>
          <a:xfrm>
            <a:off x="4170348" y="5182394"/>
            <a:ext cx="1273961" cy="768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IN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r>
              <a:rPr lang="en-US" altLang="ko-KR" sz="800" dirty="0">
                <a:solidFill>
                  <a:schemeClr val="tx1"/>
                </a:solidFill>
              </a:rPr>
              <a:t>ECO</a:t>
            </a: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등록 되지 않을 경우 </a:t>
            </a:r>
            <a:r>
              <a:rPr lang="en-US" altLang="ko-KR" sz="800" dirty="0">
                <a:solidFill>
                  <a:schemeClr val="tx1"/>
                </a:solidFill>
              </a:rPr>
              <a:t>RED</a:t>
            </a:r>
            <a:r>
              <a:rPr lang="ko-KR" altLang="en-US" sz="800" dirty="0">
                <a:solidFill>
                  <a:schemeClr val="tx1"/>
                </a:solidFill>
              </a:rPr>
              <a:t>표시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DI ECO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Layar merah jika belum terdaftar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E47D16C5-4883-4D7F-9A1A-4C361957C9D2}"/>
              </a:ext>
            </a:extLst>
          </p:cNvPr>
          <p:cNvSpPr/>
          <p:nvPr/>
        </p:nvSpPr>
        <p:spPr>
          <a:xfrm>
            <a:off x="4092110" y="2882070"/>
            <a:ext cx="639296" cy="5469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D280767B-138E-422B-81AA-D4A37FDBEC0A}"/>
              </a:ext>
            </a:extLst>
          </p:cNvPr>
          <p:cNvCxnSpPr>
            <a:cxnSpLocks/>
            <a:stCxn id="41" idx="4"/>
            <a:endCxn id="40" idx="0"/>
          </p:cNvCxnSpPr>
          <p:nvPr/>
        </p:nvCxnSpPr>
        <p:spPr>
          <a:xfrm rot="16200000" flipH="1">
            <a:off x="3732846" y="4107911"/>
            <a:ext cx="1753394" cy="39557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A1CD38A-F075-404D-B432-3FA28EC72F96}"/>
              </a:ext>
            </a:extLst>
          </p:cNvPr>
          <p:cNvSpPr/>
          <p:nvPr/>
        </p:nvSpPr>
        <p:spPr>
          <a:xfrm>
            <a:off x="5040198" y="4207698"/>
            <a:ext cx="1273961" cy="401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KR ECO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77D9ED6D-3275-4037-BD4C-D962FAC117EE}"/>
              </a:ext>
            </a:extLst>
          </p:cNvPr>
          <p:cNvSpPr/>
          <p:nvPr/>
        </p:nvSpPr>
        <p:spPr>
          <a:xfrm>
            <a:off x="4605317" y="2882070"/>
            <a:ext cx="639296" cy="5469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28AEA98D-742A-4A19-A543-49124F66867C}"/>
              </a:ext>
            </a:extLst>
          </p:cNvPr>
          <p:cNvCxnSpPr>
            <a:cxnSpLocks/>
            <a:stCxn id="44" idx="4"/>
            <a:endCxn id="43" idx="0"/>
          </p:cNvCxnSpPr>
          <p:nvPr/>
        </p:nvCxnSpPr>
        <p:spPr>
          <a:xfrm rot="16200000" flipH="1">
            <a:off x="4911723" y="3442242"/>
            <a:ext cx="778698" cy="75221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2F62DE0-D0BC-4B88-B34D-81E0DF54DB6A}"/>
              </a:ext>
            </a:extLst>
          </p:cNvPr>
          <p:cNvSpPr/>
          <p:nvPr/>
        </p:nvSpPr>
        <p:spPr>
          <a:xfrm>
            <a:off x="6473983" y="4204531"/>
            <a:ext cx="1273961" cy="768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적용일자 초과시 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RED </a:t>
            </a:r>
            <a:r>
              <a:rPr lang="ko-KR" altLang="en-US" sz="800" dirty="0">
                <a:solidFill>
                  <a:schemeClr val="tx1"/>
                </a:solidFill>
              </a:rPr>
              <a:t>표시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fi-FI" altLang="ko-KR" sz="800" dirty="0">
                <a:solidFill>
                  <a:schemeClr val="tx1"/>
                </a:solidFill>
              </a:rPr>
              <a:t>Jika tanggal aplikasi terlewati,</a:t>
            </a:r>
          </a:p>
          <a:p>
            <a:pPr algn="ctr"/>
            <a:r>
              <a:rPr lang="fi-FI" altLang="ko-KR" sz="800" dirty="0">
                <a:solidFill>
                  <a:schemeClr val="tx1"/>
                </a:solidFill>
              </a:rPr>
              <a:t>Tampilan merah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91CEDB93-8416-41A1-AFD2-AA5003344A64}"/>
              </a:ext>
            </a:extLst>
          </p:cNvPr>
          <p:cNvSpPr/>
          <p:nvPr/>
        </p:nvSpPr>
        <p:spPr>
          <a:xfrm>
            <a:off x="5833739" y="2964071"/>
            <a:ext cx="639296" cy="5469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C6965B4A-94BE-4CEA-85B3-4F2F81A981D5}"/>
              </a:ext>
            </a:extLst>
          </p:cNvPr>
          <p:cNvCxnSpPr>
            <a:cxnSpLocks/>
            <a:stCxn id="47" idx="4"/>
            <a:endCxn id="46" idx="0"/>
          </p:cNvCxnSpPr>
          <p:nvPr/>
        </p:nvCxnSpPr>
        <p:spPr>
          <a:xfrm rot="16200000" flipH="1">
            <a:off x="6285410" y="3378977"/>
            <a:ext cx="693530" cy="95757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CA563BE-7925-4330-AC06-62638B9BD2FA}"/>
              </a:ext>
            </a:extLst>
          </p:cNvPr>
          <p:cNvGrpSpPr/>
          <p:nvPr/>
        </p:nvGrpSpPr>
        <p:grpSpPr>
          <a:xfrm>
            <a:off x="7192110" y="3005984"/>
            <a:ext cx="1273961" cy="3765689"/>
            <a:chOff x="6412147" y="3497524"/>
            <a:chExt cx="1273961" cy="3765689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1FB19B88-BBC0-4C69-A990-4DA6AD5CF3F6}"/>
                </a:ext>
              </a:extLst>
            </p:cNvPr>
            <p:cNvSpPr/>
            <p:nvPr/>
          </p:nvSpPr>
          <p:spPr>
            <a:xfrm>
              <a:off x="6412147" y="5549440"/>
              <a:ext cx="1273961" cy="171377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현재고 수량 표기</a:t>
              </a:r>
              <a:endParaRPr lang="en-US" altLang="ko-KR" sz="8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기존 재고 소진되었으나 </a:t>
              </a:r>
              <a:endParaRPr lang="en-US" altLang="ko-KR" sz="8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초도 검사성적서 미등록</a:t>
              </a:r>
              <a:endParaRPr lang="en-US" altLang="ko-KR" sz="8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RED </a:t>
              </a:r>
              <a:r>
                <a:rPr lang="ko-KR" altLang="en-US" sz="800" dirty="0">
                  <a:solidFill>
                    <a:schemeClr val="tx1"/>
                  </a:solidFill>
                </a:rPr>
                <a:t>색상 표기</a:t>
              </a:r>
              <a:endParaRPr lang="en-US" altLang="ko-KR" sz="8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Inventaris saat ini akan ditampilkan. Jika inventaris yang ada telah habis tetapi laporan inspeksi pertama belum tercatat, warnanya akan menjadi merah.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2083768D-6B24-4EC9-A971-8E6A7B712FE8}"/>
                </a:ext>
              </a:extLst>
            </p:cNvPr>
            <p:cNvSpPr/>
            <p:nvPr/>
          </p:nvSpPr>
          <p:spPr>
            <a:xfrm>
              <a:off x="6777729" y="3497524"/>
              <a:ext cx="639296" cy="54693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51" name="연결선: 꺾임 50">
              <a:extLst>
                <a:ext uri="{FF2B5EF4-FFF2-40B4-BE49-F238E27FC236}">
                  <a16:creationId xmlns:a16="http://schemas.microsoft.com/office/drawing/2014/main" id="{838657FD-B912-4E53-9472-A2702AD52741}"/>
                </a:ext>
              </a:extLst>
            </p:cNvPr>
            <p:cNvCxnSpPr>
              <a:cxnSpLocks/>
              <a:stCxn id="50" idx="4"/>
              <a:endCxn id="49" idx="0"/>
            </p:cNvCxnSpPr>
            <p:nvPr/>
          </p:nvCxnSpPr>
          <p:spPr>
            <a:xfrm rot="5400000">
              <a:off x="6320760" y="4772823"/>
              <a:ext cx="1504986" cy="4824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1F6402EA-4057-4CBC-8C77-D45F3272C0A0}"/>
              </a:ext>
            </a:extLst>
          </p:cNvPr>
          <p:cNvGrpSpPr/>
          <p:nvPr/>
        </p:nvGrpSpPr>
        <p:grpSpPr>
          <a:xfrm>
            <a:off x="9361911" y="3005984"/>
            <a:ext cx="1975271" cy="2829099"/>
            <a:chOff x="5710837" y="3257278"/>
            <a:chExt cx="1975271" cy="2829099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FD9499D6-401A-47AF-8DC0-FB45661297BE}"/>
                </a:ext>
              </a:extLst>
            </p:cNvPr>
            <p:cNvSpPr/>
            <p:nvPr/>
          </p:nvSpPr>
          <p:spPr>
            <a:xfrm>
              <a:off x="6412147" y="5549441"/>
              <a:ext cx="1273961" cy="536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현재고 수량 표기</a:t>
              </a:r>
              <a:endParaRPr lang="en-US" altLang="ko-KR" sz="800" dirty="0">
                <a:solidFill>
                  <a:schemeClr val="tx1"/>
                </a:solidFill>
              </a:endParaRPr>
            </a:p>
            <a:p>
              <a:pPr algn="ctr"/>
              <a:r>
                <a:rPr lang="fi-FI" altLang="ko-KR" sz="800" dirty="0">
                  <a:solidFill>
                    <a:schemeClr val="tx1"/>
                  </a:solidFill>
                </a:rPr>
                <a:t>Notasi jumlah stok saat ini</a:t>
              </a:r>
              <a:endParaRPr lang="en-US" altLang="ko-KR" sz="800" dirty="0">
                <a:solidFill>
                  <a:schemeClr val="tx1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83AC4F55-3D34-442A-929F-7F6CEA42BEE3}"/>
                </a:ext>
              </a:extLst>
            </p:cNvPr>
            <p:cNvSpPr/>
            <p:nvPr/>
          </p:nvSpPr>
          <p:spPr>
            <a:xfrm>
              <a:off x="5710837" y="3257278"/>
              <a:ext cx="639296" cy="54693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B284AEC4-354B-41A1-9294-9E74B3C3BB8F}"/>
                </a:ext>
              </a:extLst>
            </p:cNvPr>
            <p:cNvCxnSpPr>
              <a:cxnSpLocks/>
              <a:stCxn id="58" idx="4"/>
              <a:endCxn id="57" idx="0"/>
            </p:cNvCxnSpPr>
            <p:nvPr/>
          </p:nvCxnSpPr>
          <p:spPr>
            <a:xfrm rot="16200000" flipH="1">
              <a:off x="5667190" y="4167502"/>
              <a:ext cx="1745233" cy="1018643"/>
            </a:xfrm>
            <a:prstGeom prst="bentConnector3">
              <a:avLst>
                <a:gd name="adj1" fmla="val 88684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0FC643F9-A3BE-4F3D-8E83-385E7F81FDF0}"/>
              </a:ext>
            </a:extLst>
          </p:cNvPr>
          <p:cNvGrpSpPr/>
          <p:nvPr/>
        </p:nvGrpSpPr>
        <p:grpSpPr>
          <a:xfrm>
            <a:off x="8817780" y="2967759"/>
            <a:ext cx="2519402" cy="3469989"/>
            <a:chOff x="7626195" y="3752203"/>
            <a:chExt cx="2519402" cy="3469989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88B99F08-B04B-4D51-A369-DE3D784AC9E0}"/>
                </a:ext>
              </a:extLst>
            </p:cNvPr>
            <p:cNvSpPr/>
            <p:nvPr/>
          </p:nvSpPr>
          <p:spPr>
            <a:xfrm>
              <a:off x="8871636" y="6758101"/>
              <a:ext cx="1273961" cy="46409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관련 자재 품번</a:t>
              </a:r>
              <a:endParaRPr lang="en-US" altLang="ko-KR" sz="800" dirty="0">
                <a:solidFill>
                  <a:schemeClr val="tx1"/>
                </a:solidFill>
              </a:endParaRPr>
            </a:p>
            <a:p>
              <a:pPr algn="ctr"/>
              <a:r>
                <a:rPr lang="nb-NO" altLang="ko-KR" sz="800" dirty="0">
                  <a:solidFill>
                    <a:schemeClr val="tx1"/>
                  </a:solidFill>
                </a:rPr>
                <a:t>Nomor produk aksesori terkait ECO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02B7992D-0528-4373-B5F7-F198176C1D58}"/>
                </a:ext>
              </a:extLst>
            </p:cNvPr>
            <p:cNvSpPr/>
            <p:nvPr/>
          </p:nvSpPr>
          <p:spPr>
            <a:xfrm>
              <a:off x="7626195" y="3752203"/>
              <a:ext cx="639296" cy="54693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67" name="연결선: 꺾임 66">
              <a:extLst>
                <a:ext uri="{FF2B5EF4-FFF2-40B4-BE49-F238E27FC236}">
                  <a16:creationId xmlns:a16="http://schemas.microsoft.com/office/drawing/2014/main" id="{1D4ADF4F-1616-4ED2-A822-A56B4766B211}"/>
                </a:ext>
              </a:extLst>
            </p:cNvPr>
            <p:cNvCxnSpPr>
              <a:cxnSpLocks/>
              <a:stCxn id="66" idx="4"/>
              <a:endCxn id="65" idx="0"/>
            </p:cNvCxnSpPr>
            <p:nvPr/>
          </p:nvCxnSpPr>
          <p:spPr>
            <a:xfrm rot="16200000" flipH="1">
              <a:off x="7497746" y="4747230"/>
              <a:ext cx="2458968" cy="1562774"/>
            </a:xfrm>
            <a:prstGeom prst="bentConnector3">
              <a:avLst>
                <a:gd name="adj1" fmla="val 97265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FCBE500-2E2A-4813-AFC1-E8CB455E5D8D}"/>
              </a:ext>
            </a:extLst>
          </p:cNvPr>
          <p:cNvSpPr/>
          <p:nvPr/>
        </p:nvSpPr>
        <p:spPr>
          <a:xfrm>
            <a:off x="8590580" y="6032705"/>
            <a:ext cx="1273961" cy="6073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EOC</a:t>
            </a:r>
            <a:r>
              <a:rPr lang="ko-KR" altLang="en-US" sz="800" dirty="0">
                <a:solidFill>
                  <a:schemeClr val="tx1"/>
                </a:solidFill>
              </a:rPr>
              <a:t>적용 도면 </a:t>
            </a:r>
            <a:r>
              <a:rPr lang="en-US" altLang="ko-KR" sz="800" dirty="0">
                <a:solidFill>
                  <a:schemeClr val="tx1"/>
                </a:solidFill>
              </a:rPr>
              <a:t>P/N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 Drawing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Nomor produk terkait EOC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2AD36E00-72C2-469F-B645-E576A197348B}"/>
              </a:ext>
            </a:extLst>
          </p:cNvPr>
          <p:cNvSpPr/>
          <p:nvPr/>
        </p:nvSpPr>
        <p:spPr>
          <a:xfrm>
            <a:off x="8209811" y="2974649"/>
            <a:ext cx="639296" cy="5469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1D809641-C4CB-4F1D-924E-BA5D1D21B598}"/>
              </a:ext>
            </a:extLst>
          </p:cNvPr>
          <p:cNvCxnSpPr>
            <a:cxnSpLocks/>
            <a:stCxn id="72" idx="4"/>
            <a:endCxn id="71" idx="1"/>
          </p:cNvCxnSpPr>
          <p:nvPr/>
        </p:nvCxnSpPr>
        <p:spPr>
          <a:xfrm rot="16200000" flipH="1">
            <a:off x="7152612" y="4898425"/>
            <a:ext cx="2814815" cy="61121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A54F6E-3792-451E-997C-E6B349854B84}"/>
              </a:ext>
            </a:extLst>
          </p:cNvPr>
          <p:cNvSpPr/>
          <p:nvPr/>
        </p:nvSpPr>
        <p:spPr>
          <a:xfrm>
            <a:off x="6314159" y="5057900"/>
            <a:ext cx="877951" cy="1713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UPDATE 11/06 </a:t>
            </a:r>
            <a:r>
              <a:rPr lang="en-US" altLang="ko-KR" sz="1050" dirty="0" err="1"/>
              <a:t>minta</a:t>
            </a:r>
            <a:endParaRPr lang="en-US" altLang="ko-KR" sz="1050" dirty="0"/>
          </a:p>
          <a:p>
            <a:pPr algn="ctr"/>
            <a:r>
              <a:rPr lang="en-US" altLang="ko-KR" sz="1050" dirty="0"/>
              <a:t>3Lot </a:t>
            </a:r>
          </a:p>
          <a:p>
            <a:pPr algn="ctr"/>
            <a:r>
              <a:rPr lang="en-US" altLang="ko-KR" sz="1050" dirty="0" err="1"/>
              <a:t>Mendaftarkan</a:t>
            </a:r>
            <a:r>
              <a:rPr lang="en-US" altLang="ko-KR" sz="1050" dirty="0"/>
              <a:t> </a:t>
            </a:r>
            <a:r>
              <a:rPr lang="en-US" altLang="ko-KR" sz="1050" dirty="0" err="1"/>
              <a:t>hasil</a:t>
            </a:r>
            <a:r>
              <a:rPr lang="en-US" altLang="ko-KR" sz="1050" dirty="0"/>
              <a:t> </a:t>
            </a:r>
            <a:r>
              <a:rPr lang="en-US" altLang="ko-KR" sz="1050" dirty="0" err="1"/>
              <a:t>pemeriksaan</a:t>
            </a:r>
            <a:r>
              <a:rPr lang="en-US" altLang="ko-KR" sz="1050" dirty="0"/>
              <a:t> </a:t>
            </a:r>
            <a:r>
              <a:rPr lang="en-US" altLang="ko-KR" sz="1050" dirty="0" err="1"/>
              <a:t>hingga</a:t>
            </a:r>
            <a:r>
              <a:rPr lang="en-US" altLang="ko-KR" sz="1050" dirty="0"/>
              <a:t> 3 kali</a:t>
            </a:r>
            <a:endParaRPr lang="ko-KR" altLang="en-US" sz="105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4BC6AB3-A2BC-46A0-A24D-5FD2FE6586B4}"/>
              </a:ext>
            </a:extLst>
          </p:cNvPr>
          <p:cNvSpPr/>
          <p:nvPr/>
        </p:nvSpPr>
        <p:spPr>
          <a:xfrm>
            <a:off x="829043" y="5116770"/>
            <a:ext cx="2457362" cy="1713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ko-KR" sz="1050" dirty="0"/>
              <a:t>UPDATE 11/06 </a:t>
            </a:r>
            <a:r>
              <a:rPr lang="en-US" altLang="ko-KR" sz="1050" dirty="0" err="1"/>
              <a:t>minta</a:t>
            </a:r>
            <a:endParaRPr lang="en-US" altLang="ko-KR" sz="105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ko-KR" altLang="en-US" sz="1050" dirty="0"/>
              <a:t>현재 상태의 이메일 전송 시스템</a:t>
            </a:r>
            <a:endParaRPr lang="en-US" altLang="ko-KR" sz="105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ko-KR" sz="1050" dirty="0" err="1"/>
              <a:t>Kirim</a:t>
            </a:r>
            <a:r>
              <a:rPr lang="en-US" altLang="ko-KR" sz="1050" dirty="0"/>
              <a:t> </a:t>
            </a:r>
            <a:r>
              <a:rPr lang="en-US" altLang="ko-KR" sz="1050" dirty="0" err="1"/>
              <a:t>pembaruan</a:t>
            </a:r>
            <a:r>
              <a:rPr lang="en-US" altLang="ko-KR" sz="1050" dirty="0"/>
              <a:t> status ECO </a:t>
            </a:r>
            <a:r>
              <a:rPr lang="en-US" altLang="ko-KR" sz="1050" dirty="0" err="1"/>
              <a:t>melalui</a:t>
            </a:r>
            <a:r>
              <a:rPr lang="en-US" altLang="ko-KR" sz="1050" dirty="0"/>
              <a:t> email </a:t>
            </a:r>
            <a:r>
              <a:rPr lang="en-US" altLang="ko-KR" sz="1050" dirty="0" err="1"/>
              <a:t>secara</a:t>
            </a:r>
            <a:r>
              <a:rPr lang="en-US" altLang="ko-KR" sz="1050" dirty="0"/>
              <a:t> </a:t>
            </a:r>
            <a:r>
              <a:rPr lang="en-US" altLang="ko-KR" sz="1050" dirty="0" err="1"/>
              <a:t>berkala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50162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F5C917-E6CA-42C9-9606-ECCCEEF47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67259"/>
            <a:ext cx="11277600" cy="5900235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CAA81AF-4978-42B9-B1C0-B6372828F855}"/>
              </a:ext>
            </a:extLst>
          </p:cNvPr>
          <p:cNvCxnSpPr/>
          <p:nvPr/>
        </p:nvCxnSpPr>
        <p:spPr>
          <a:xfrm>
            <a:off x="0" y="61529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F63642D-63FE-4DE7-B8E3-B475F79E9673}"/>
              </a:ext>
            </a:extLst>
          </p:cNvPr>
          <p:cNvSpPr txBox="1"/>
          <p:nvPr/>
        </p:nvSpPr>
        <p:spPr>
          <a:xfrm>
            <a:off x="59821" y="94003"/>
            <a:ext cx="570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</a:t>
            </a:r>
            <a:r>
              <a:rPr lang="en-ID" altLang="ko-KR" dirty="0"/>
              <a:t> ECO </a:t>
            </a:r>
            <a:r>
              <a:rPr lang="en-US" altLang="ko-KR" dirty="0"/>
              <a:t>Input</a:t>
            </a:r>
            <a:r>
              <a:rPr lang="ko-KR" altLang="en-US" dirty="0"/>
              <a:t> </a:t>
            </a:r>
            <a:r>
              <a:rPr lang="en-US" altLang="ko-KR" dirty="0"/>
              <a:t>UI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0188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7EAB5F-6D8D-4E7F-B47A-5339CA514837}"/>
              </a:ext>
            </a:extLst>
          </p:cNvPr>
          <p:cNvCxnSpPr/>
          <p:nvPr/>
        </p:nvCxnSpPr>
        <p:spPr>
          <a:xfrm>
            <a:off x="0" y="61529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38F9C07-34EF-4361-8AE4-54694226C2D5}"/>
              </a:ext>
            </a:extLst>
          </p:cNvPr>
          <p:cNvSpPr txBox="1"/>
          <p:nvPr/>
        </p:nvSpPr>
        <p:spPr>
          <a:xfrm>
            <a:off x="59821" y="94003"/>
            <a:ext cx="570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</a:t>
            </a:r>
            <a:r>
              <a:rPr lang="en-ID" altLang="ko-KR" dirty="0"/>
              <a:t> ECO </a:t>
            </a:r>
            <a:r>
              <a:rPr lang="en-US" altLang="ko-KR" dirty="0"/>
              <a:t>View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355C1EB-162E-4E9D-AA89-621E875AA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43" y="740627"/>
            <a:ext cx="12016257" cy="6023370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EEEAEAAE-49F9-4566-827C-83EB459CCC6D}"/>
              </a:ext>
            </a:extLst>
          </p:cNvPr>
          <p:cNvGrpSpPr/>
          <p:nvPr/>
        </p:nvGrpSpPr>
        <p:grpSpPr>
          <a:xfrm>
            <a:off x="1635882" y="1952059"/>
            <a:ext cx="2496719" cy="1708986"/>
            <a:chOff x="7883322" y="3056878"/>
            <a:chExt cx="2496719" cy="1708986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BCF086B-6065-4A60-B1A3-0200D0CA8F3F}"/>
                </a:ext>
              </a:extLst>
            </p:cNvPr>
            <p:cNvSpPr/>
            <p:nvPr/>
          </p:nvSpPr>
          <p:spPr>
            <a:xfrm>
              <a:off x="7883322" y="4301773"/>
              <a:ext cx="1273961" cy="46409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클릭시 </a:t>
              </a:r>
              <a:r>
                <a:rPr lang="en-US" altLang="ko-KR" sz="800" dirty="0">
                  <a:solidFill>
                    <a:schemeClr val="tx1"/>
                  </a:solidFill>
                </a:rPr>
                <a:t>ECO </a:t>
              </a:r>
              <a:r>
                <a:rPr lang="ko-KR" altLang="en-US" sz="800" dirty="0">
                  <a:solidFill>
                    <a:schemeClr val="tx1"/>
                  </a:solidFill>
                </a:rPr>
                <a:t>조회</a:t>
              </a: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47914894-374F-4872-82D6-C71AA3F00767}"/>
                </a:ext>
              </a:extLst>
            </p:cNvPr>
            <p:cNvSpPr/>
            <p:nvPr/>
          </p:nvSpPr>
          <p:spPr>
            <a:xfrm>
              <a:off x="9740745" y="3056878"/>
              <a:ext cx="639296" cy="54693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5" name="연결선: 꺾임 14">
              <a:extLst>
                <a:ext uri="{FF2B5EF4-FFF2-40B4-BE49-F238E27FC236}">
                  <a16:creationId xmlns:a16="http://schemas.microsoft.com/office/drawing/2014/main" id="{CA22A9BF-6DC6-4B5D-914F-F1DA0059ED54}"/>
                </a:ext>
              </a:extLst>
            </p:cNvPr>
            <p:cNvCxnSpPr>
              <a:cxnSpLocks/>
              <a:stCxn id="14" idx="4"/>
              <a:endCxn id="13" idx="0"/>
            </p:cNvCxnSpPr>
            <p:nvPr/>
          </p:nvCxnSpPr>
          <p:spPr>
            <a:xfrm rot="5400000">
              <a:off x="8941366" y="3182745"/>
              <a:ext cx="697965" cy="154009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506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402C0C-6EA3-4FC2-ACB6-5727D37CD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5139"/>
            <a:ext cx="9531177" cy="470841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3B9444-18FB-445C-B866-ECE8351C76FF}"/>
              </a:ext>
            </a:extLst>
          </p:cNvPr>
          <p:cNvCxnSpPr>
            <a:cxnSpLocks/>
          </p:cNvCxnSpPr>
          <p:nvPr/>
        </p:nvCxnSpPr>
        <p:spPr>
          <a:xfrm>
            <a:off x="3219451" y="3095625"/>
            <a:ext cx="814385" cy="437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37FD01-B4A0-4689-93BF-D36B6B949D88}"/>
              </a:ext>
            </a:extLst>
          </p:cNvPr>
          <p:cNvCxnSpPr>
            <a:cxnSpLocks/>
          </p:cNvCxnSpPr>
          <p:nvPr/>
        </p:nvCxnSpPr>
        <p:spPr>
          <a:xfrm flipV="1">
            <a:off x="3219451" y="2514601"/>
            <a:ext cx="4033836" cy="5810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2C133E7-B2AE-4A82-AE57-65862D4C9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728" y="2977413"/>
            <a:ext cx="7988272" cy="3872974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5CE5581-FF87-4F86-BA11-C3D1AED403C5}"/>
              </a:ext>
            </a:extLst>
          </p:cNvPr>
          <p:cNvCxnSpPr/>
          <p:nvPr/>
        </p:nvCxnSpPr>
        <p:spPr>
          <a:xfrm>
            <a:off x="0" y="61529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2820703-92A4-4049-A15C-3976927B4906}"/>
              </a:ext>
            </a:extLst>
          </p:cNvPr>
          <p:cNvSpPr txBox="1"/>
          <p:nvPr/>
        </p:nvSpPr>
        <p:spPr>
          <a:xfrm>
            <a:off x="59821" y="94003"/>
            <a:ext cx="570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</a:t>
            </a:r>
            <a:r>
              <a:rPr lang="en-ID" altLang="ko-KR" dirty="0"/>
              <a:t> ECO </a:t>
            </a:r>
            <a:r>
              <a:rPr lang="en-US" altLang="ko-KR" dirty="0"/>
              <a:t>Drawing View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9441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402C0C-6EA3-4FC2-ACB6-5727D37CD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5139"/>
            <a:ext cx="9531177" cy="470841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3B9444-18FB-445C-B866-ECE8351C76FF}"/>
              </a:ext>
            </a:extLst>
          </p:cNvPr>
          <p:cNvCxnSpPr>
            <a:cxnSpLocks/>
          </p:cNvCxnSpPr>
          <p:nvPr/>
        </p:nvCxnSpPr>
        <p:spPr>
          <a:xfrm>
            <a:off x="7639050" y="2828925"/>
            <a:ext cx="0" cy="2203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37FD01-B4A0-4689-93BF-D36B6B949D88}"/>
              </a:ext>
            </a:extLst>
          </p:cNvPr>
          <p:cNvCxnSpPr>
            <a:cxnSpLocks/>
          </p:cNvCxnSpPr>
          <p:nvPr/>
        </p:nvCxnSpPr>
        <p:spPr>
          <a:xfrm flipV="1">
            <a:off x="7639050" y="2505076"/>
            <a:ext cx="709612" cy="323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C6B1C88-2997-4625-B44A-AA308CD74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3049291"/>
            <a:ext cx="7734300" cy="3808709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ACA21ED-4FD5-4E50-B4BC-EB210CE87A19}"/>
              </a:ext>
            </a:extLst>
          </p:cNvPr>
          <p:cNvCxnSpPr/>
          <p:nvPr/>
        </p:nvCxnSpPr>
        <p:spPr>
          <a:xfrm>
            <a:off x="0" y="61529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AE7260-3F8C-4BFF-8228-68FDBA36B1ED}"/>
              </a:ext>
            </a:extLst>
          </p:cNvPr>
          <p:cNvSpPr txBox="1"/>
          <p:nvPr/>
        </p:nvSpPr>
        <p:spPr>
          <a:xfrm>
            <a:off x="59821" y="94003"/>
            <a:ext cx="570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ECO </a:t>
            </a:r>
            <a:r>
              <a:rPr lang="ko-KR" altLang="en-US" dirty="0"/>
              <a:t>관련 자재 현황</a:t>
            </a:r>
            <a:r>
              <a:rPr lang="en-US" altLang="ko-KR" dirty="0"/>
              <a:t>(Status </a:t>
            </a:r>
            <a:r>
              <a:rPr lang="en-US" altLang="ko-KR" dirty="0" err="1"/>
              <a:t>bahan</a:t>
            </a:r>
            <a:r>
              <a:rPr lang="en-US" altLang="ko-KR" dirty="0"/>
              <a:t> terkait ECO)</a:t>
            </a:r>
            <a:r>
              <a:rPr lang="ko-KR" altLang="en-US" dirty="0"/>
              <a:t> 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E157CA6-5604-49FD-892D-FF45B521E300}"/>
              </a:ext>
            </a:extLst>
          </p:cNvPr>
          <p:cNvGrpSpPr/>
          <p:nvPr/>
        </p:nvGrpSpPr>
        <p:grpSpPr>
          <a:xfrm>
            <a:off x="6096000" y="3774298"/>
            <a:ext cx="2496719" cy="1989093"/>
            <a:chOff x="7883322" y="3056878"/>
            <a:chExt cx="2496719" cy="1989093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E940AD3-514F-4676-B5B7-3B18E0F1A935}"/>
                </a:ext>
              </a:extLst>
            </p:cNvPr>
            <p:cNvSpPr/>
            <p:nvPr/>
          </p:nvSpPr>
          <p:spPr>
            <a:xfrm>
              <a:off x="7883322" y="4301773"/>
              <a:ext cx="1273961" cy="74419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입출고시  등록</a:t>
              </a:r>
              <a:endParaRPr lang="en-US" altLang="ko-KR" sz="8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800" dirty="0" err="1">
                  <a:solidFill>
                    <a:schemeClr val="tx1"/>
                  </a:solidFill>
                </a:rPr>
                <a:t>Mencatat</a:t>
              </a:r>
              <a:r>
                <a:rPr lang="en-US" altLang="ko-KR" sz="800" dirty="0">
                  <a:solidFill>
                    <a:schemeClr val="tx1"/>
                  </a:solidFill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</a:rPr>
                <a:t>riwayat</a:t>
              </a:r>
              <a:r>
                <a:rPr lang="en-US" altLang="ko-KR" sz="800" dirty="0">
                  <a:solidFill>
                    <a:schemeClr val="tx1"/>
                  </a:solidFill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</a:rPr>
                <a:t>penerimaan</a:t>
              </a:r>
              <a:r>
                <a:rPr lang="en-US" altLang="ko-KR" sz="800" dirty="0">
                  <a:solidFill>
                    <a:schemeClr val="tx1"/>
                  </a:solidFill>
                </a:rPr>
                <a:t> dan </a:t>
              </a:r>
              <a:r>
                <a:rPr lang="en-US" altLang="ko-KR" sz="800" dirty="0" err="1">
                  <a:solidFill>
                    <a:schemeClr val="tx1"/>
                  </a:solidFill>
                </a:rPr>
                <a:t>pengiriman</a:t>
              </a:r>
              <a:r>
                <a:rPr lang="en-US" altLang="ko-KR" sz="800" dirty="0">
                  <a:solidFill>
                    <a:schemeClr val="tx1"/>
                  </a:solidFill>
                </a:rPr>
                <a:t> material</a:t>
              </a:r>
              <a:r>
                <a:rPr lang="ko-KR" altLang="en-US" sz="800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4D78718-E1A2-4B1E-A219-C2BD852751FA}"/>
                </a:ext>
              </a:extLst>
            </p:cNvPr>
            <p:cNvSpPr/>
            <p:nvPr/>
          </p:nvSpPr>
          <p:spPr>
            <a:xfrm>
              <a:off x="9740745" y="3056878"/>
              <a:ext cx="639296" cy="54693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4" name="연결선: 꺾임 13">
              <a:extLst>
                <a:ext uri="{FF2B5EF4-FFF2-40B4-BE49-F238E27FC236}">
                  <a16:creationId xmlns:a16="http://schemas.microsoft.com/office/drawing/2014/main" id="{6907A7E2-A1AF-4ABE-B82D-93402FEB8F5A}"/>
                </a:ext>
              </a:extLst>
            </p:cNvPr>
            <p:cNvCxnSpPr>
              <a:cxnSpLocks/>
              <a:stCxn id="13" idx="4"/>
              <a:endCxn id="11" idx="0"/>
            </p:cNvCxnSpPr>
            <p:nvPr/>
          </p:nvCxnSpPr>
          <p:spPr>
            <a:xfrm rot="5400000">
              <a:off x="8941366" y="3182745"/>
              <a:ext cx="697965" cy="154009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5018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9ED30E1-7E1A-4944-881D-7F64390A71FC}"/>
              </a:ext>
            </a:extLst>
          </p:cNvPr>
          <p:cNvCxnSpPr/>
          <p:nvPr/>
        </p:nvCxnSpPr>
        <p:spPr>
          <a:xfrm>
            <a:off x="0" y="61529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A33EEC9-0641-4267-BB16-8438FBBA7D25}"/>
              </a:ext>
            </a:extLst>
          </p:cNvPr>
          <p:cNvSpPr txBox="1"/>
          <p:nvPr/>
        </p:nvSpPr>
        <p:spPr>
          <a:xfrm>
            <a:off x="59821" y="94003"/>
            <a:ext cx="570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6. ECO </a:t>
            </a:r>
            <a:r>
              <a:rPr lang="ko-KR" altLang="en-US" dirty="0"/>
              <a:t>심의회 내용등록 </a:t>
            </a:r>
            <a:r>
              <a:rPr lang="en-US" altLang="ko-KR" dirty="0"/>
              <a:t>(ECO Report )</a:t>
            </a:r>
            <a:endParaRPr lang="ko-KR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E80EF84-2F39-4CD5-911D-A0902F776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1" y="767260"/>
            <a:ext cx="10767701" cy="5180971"/>
          </a:xfrm>
          <a:prstGeom prst="rect">
            <a:avLst/>
          </a:prstGeom>
        </p:spPr>
      </p:pic>
      <p:cxnSp>
        <p:nvCxnSpPr>
          <p:cNvPr id="7" name="Straight Arrow Connector 3">
            <a:extLst>
              <a:ext uri="{FF2B5EF4-FFF2-40B4-BE49-F238E27FC236}">
                <a16:creationId xmlns:a16="http://schemas.microsoft.com/office/drawing/2014/main" id="{AE5BE6BA-2F29-448C-A155-B96DFAB4655D}"/>
              </a:ext>
            </a:extLst>
          </p:cNvPr>
          <p:cNvCxnSpPr>
            <a:cxnSpLocks/>
          </p:cNvCxnSpPr>
          <p:nvPr/>
        </p:nvCxnSpPr>
        <p:spPr>
          <a:xfrm flipH="1">
            <a:off x="3081337" y="2980910"/>
            <a:ext cx="319089" cy="303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" name="Straight Arrow Connector 6">
            <a:extLst>
              <a:ext uri="{FF2B5EF4-FFF2-40B4-BE49-F238E27FC236}">
                <a16:creationId xmlns:a16="http://schemas.microsoft.com/office/drawing/2014/main" id="{CCCC502B-1155-4502-B9C9-86BA021C8738}"/>
              </a:ext>
            </a:extLst>
          </p:cNvPr>
          <p:cNvCxnSpPr>
            <a:cxnSpLocks/>
          </p:cNvCxnSpPr>
          <p:nvPr/>
        </p:nvCxnSpPr>
        <p:spPr>
          <a:xfrm flipH="1" flipV="1">
            <a:off x="2705100" y="2400300"/>
            <a:ext cx="695325" cy="5806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9" name="Picture 4">
            <a:extLst>
              <a:ext uri="{FF2B5EF4-FFF2-40B4-BE49-F238E27FC236}">
                <a16:creationId xmlns:a16="http://schemas.microsoft.com/office/drawing/2014/main" id="{D9F26758-495A-4912-9CC3-3969D1B0FE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26" t="20023" r="55419" b="23861"/>
          <a:stretch/>
        </p:blipFill>
        <p:spPr>
          <a:xfrm>
            <a:off x="600075" y="3284835"/>
            <a:ext cx="4962525" cy="346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33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402C0C-6EA3-4FC2-ACB6-5727D37CD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1" y="821727"/>
            <a:ext cx="9531177" cy="470841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3B9444-18FB-445C-B866-ECE8351C76FF}"/>
              </a:ext>
            </a:extLst>
          </p:cNvPr>
          <p:cNvCxnSpPr>
            <a:cxnSpLocks/>
          </p:cNvCxnSpPr>
          <p:nvPr/>
        </p:nvCxnSpPr>
        <p:spPr>
          <a:xfrm>
            <a:off x="7639050" y="2828925"/>
            <a:ext cx="0" cy="2203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37FD01-B4A0-4689-93BF-D36B6B949D88}"/>
              </a:ext>
            </a:extLst>
          </p:cNvPr>
          <p:cNvCxnSpPr>
            <a:cxnSpLocks/>
          </p:cNvCxnSpPr>
          <p:nvPr/>
        </p:nvCxnSpPr>
        <p:spPr>
          <a:xfrm flipV="1">
            <a:off x="7639050" y="2514600"/>
            <a:ext cx="1228725" cy="3143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8CBC52E-529F-4E30-892B-E3F785370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3045317"/>
            <a:ext cx="7734300" cy="3812683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2D69B33-7939-461F-840A-4761332DD59B}"/>
              </a:ext>
            </a:extLst>
          </p:cNvPr>
          <p:cNvCxnSpPr/>
          <p:nvPr/>
        </p:nvCxnSpPr>
        <p:spPr>
          <a:xfrm>
            <a:off x="0" y="61529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1ECFE52-D320-428B-8021-28AC31D8C8E5}"/>
              </a:ext>
            </a:extLst>
          </p:cNvPr>
          <p:cNvSpPr txBox="1"/>
          <p:nvPr/>
        </p:nvSpPr>
        <p:spPr>
          <a:xfrm>
            <a:off x="59821" y="94003"/>
            <a:ext cx="11903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7. ECO </a:t>
            </a:r>
            <a:r>
              <a:rPr lang="ko-KR" altLang="en-US" dirty="0"/>
              <a:t>내용 확인 및 부서별 승인 등록</a:t>
            </a:r>
            <a:r>
              <a:rPr lang="en-US" altLang="ko-KR" dirty="0"/>
              <a:t>(Periksa </a:t>
            </a:r>
            <a:r>
              <a:rPr lang="en-US" altLang="ko-KR" dirty="0" err="1"/>
              <a:t>isi</a:t>
            </a:r>
            <a:r>
              <a:rPr lang="en-US" altLang="ko-KR" dirty="0"/>
              <a:t> ECO dan </a:t>
            </a:r>
            <a:r>
              <a:rPr lang="en-US" altLang="ko-KR" dirty="0" err="1"/>
              <a:t>daftarkan</a:t>
            </a:r>
            <a:r>
              <a:rPr lang="en-US" altLang="ko-KR" dirty="0"/>
              <a:t> </a:t>
            </a:r>
            <a:r>
              <a:rPr lang="en-US" altLang="ko-KR" dirty="0" err="1"/>
              <a:t>persetujuan</a:t>
            </a:r>
            <a:r>
              <a:rPr lang="en-US" altLang="ko-KR" dirty="0"/>
              <a:t> oleh departemen)</a:t>
            </a:r>
            <a:r>
              <a:rPr lang="ko-KR" altLang="en-US" dirty="0"/>
              <a:t>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8FDF7B-F974-4463-A0FF-1DE3553B48F4}"/>
              </a:ext>
            </a:extLst>
          </p:cNvPr>
          <p:cNvSpPr/>
          <p:nvPr/>
        </p:nvSpPr>
        <p:spPr>
          <a:xfrm>
            <a:off x="4695824" y="5905500"/>
            <a:ext cx="6734175" cy="657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266FDC-07D0-43C8-AF72-24026F89B593}"/>
              </a:ext>
            </a:extLst>
          </p:cNvPr>
          <p:cNvSpPr/>
          <p:nvPr/>
        </p:nvSpPr>
        <p:spPr>
          <a:xfrm>
            <a:off x="504825" y="5862013"/>
            <a:ext cx="2550311" cy="7441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부서별 확인 등록 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미등록시 </a:t>
            </a:r>
            <a:r>
              <a:rPr lang="en-US" altLang="ko-KR" sz="800" dirty="0">
                <a:solidFill>
                  <a:schemeClr val="tx1"/>
                </a:solidFill>
              </a:rPr>
              <a:t>RED </a:t>
            </a:r>
            <a:r>
              <a:rPr lang="ko-KR" altLang="en-US" sz="800" dirty="0">
                <a:solidFill>
                  <a:schemeClr val="tx1"/>
                </a:solidFill>
              </a:rPr>
              <a:t>표시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Konfirmasikan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en-US" altLang="ko-KR" sz="800" dirty="0" err="1">
                <a:solidFill>
                  <a:schemeClr val="tx1"/>
                </a:solidFill>
              </a:rPr>
              <a:t>pendaftaran</a:t>
            </a:r>
            <a:r>
              <a:rPr lang="en-US" altLang="ko-KR" sz="800" dirty="0">
                <a:solidFill>
                  <a:schemeClr val="tx1"/>
                </a:solidFill>
              </a:rPr>
              <a:t> berdasarkan departemen. Warna merah ditampilkan jika belum terdaftar.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090670B-E5C3-4CFE-86EE-3CD7BB8BDD81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055136" y="6234112"/>
            <a:ext cx="1640688" cy="85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B711A581-7D31-4DB1-89D6-DCDFB9EEA0ED}"/>
              </a:ext>
            </a:extLst>
          </p:cNvPr>
          <p:cNvSpPr/>
          <p:nvPr/>
        </p:nvSpPr>
        <p:spPr>
          <a:xfrm>
            <a:off x="8191500" y="3778250"/>
            <a:ext cx="3365500" cy="2083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/>
              <a:t>UPDATE 11/06 </a:t>
            </a:r>
            <a:r>
              <a:rPr lang="en-US" altLang="ko-KR" sz="1800" dirty="0" err="1"/>
              <a:t>minta</a:t>
            </a:r>
            <a:endParaRPr lang="en-US" altLang="ko-KR" dirty="0"/>
          </a:p>
          <a:p>
            <a:pPr algn="ctr"/>
            <a:r>
              <a:rPr lang="ko-KR" altLang="en-US" dirty="0"/>
              <a:t>비고란을 하여 의견 반영</a:t>
            </a:r>
            <a:endParaRPr lang="en-US" altLang="ko-KR" dirty="0"/>
          </a:p>
          <a:p>
            <a:pPr algn="ctr"/>
            <a:r>
              <a:rPr lang="sv-SE" altLang="ko-KR" dirty="0"/>
              <a:t>Silakan buat bagian komentar di mana orang dapat meninggalkan komentar.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7016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99C74A9C-9DFB-42D2-A76B-4CCF7CF26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6" y="1240827"/>
            <a:ext cx="9531177" cy="47084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91B5BF7-F128-4395-B17C-FFC6E225E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866" y="3504330"/>
            <a:ext cx="5867400" cy="3259667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C1F479-A26F-49FE-A848-CE75FF3BD143}"/>
              </a:ext>
            </a:extLst>
          </p:cNvPr>
          <p:cNvCxnSpPr/>
          <p:nvPr/>
        </p:nvCxnSpPr>
        <p:spPr>
          <a:xfrm>
            <a:off x="0" y="61529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33DE74-9FD5-4664-848C-F3A5887A75FD}"/>
              </a:ext>
            </a:extLst>
          </p:cNvPr>
          <p:cNvSpPr txBox="1"/>
          <p:nvPr/>
        </p:nvSpPr>
        <p:spPr>
          <a:xfrm>
            <a:off x="59821" y="94003"/>
            <a:ext cx="1064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8. ECO </a:t>
            </a:r>
            <a:r>
              <a:rPr lang="ko-KR" altLang="en-US" dirty="0"/>
              <a:t>적용 </a:t>
            </a:r>
            <a:r>
              <a:rPr lang="ko-KR" altLang="en-US" dirty="0" err="1"/>
              <a:t>초품</a:t>
            </a:r>
            <a:r>
              <a:rPr lang="ko-KR" altLang="en-US" dirty="0"/>
              <a:t> 등록</a:t>
            </a:r>
            <a:r>
              <a:rPr lang="en-US" altLang="ko-KR" dirty="0"/>
              <a:t>(</a:t>
            </a:r>
            <a:r>
              <a:rPr lang="it-IT" altLang="ko-KR" dirty="0"/>
              <a:t>ECO menerapkan registrasi produk pertama)</a:t>
            </a:r>
            <a:r>
              <a:rPr lang="ko-KR" altLang="en-US" dirty="0"/>
              <a:t> </a:t>
            </a:r>
          </a:p>
        </p:txBody>
      </p:sp>
      <p:cxnSp>
        <p:nvCxnSpPr>
          <p:cNvPr id="9" name="Straight Arrow Connector 3">
            <a:extLst>
              <a:ext uri="{FF2B5EF4-FFF2-40B4-BE49-F238E27FC236}">
                <a16:creationId xmlns:a16="http://schemas.microsoft.com/office/drawing/2014/main" id="{D6583CF7-3951-4ADF-9B31-58AEA25BEA15}"/>
              </a:ext>
            </a:extLst>
          </p:cNvPr>
          <p:cNvCxnSpPr>
            <a:cxnSpLocks/>
          </p:cNvCxnSpPr>
          <p:nvPr/>
        </p:nvCxnSpPr>
        <p:spPr>
          <a:xfrm>
            <a:off x="5145503" y="3661492"/>
            <a:ext cx="614363" cy="1199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" name="Straight Arrow Connector 6">
            <a:extLst>
              <a:ext uri="{FF2B5EF4-FFF2-40B4-BE49-F238E27FC236}">
                <a16:creationId xmlns:a16="http://schemas.microsoft.com/office/drawing/2014/main" id="{E66785FB-12BA-4D55-B53C-1D14B3FEFF75}"/>
              </a:ext>
            </a:extLst>
          </p:cNvPr>
          <p:cNvCxnSpPr>
            <a:cxnSpLocks/>
          </p:cNvCxnSpPr>
          <p:nvPr/>
        </p:nvCxnSpPr>
        <p:spPr>
          <a:xfrm flipV="1">
            <a:off x="5145503" y="2809875"/>
            <a:ext cx="1617247" cy="8516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3428BF2A-0B6D-4ED8-8DEE-178469FB7263}"/>
              </a:ext>
            </a:extLst>
          </p:cNvPr>
          <p:cNvSpPr/>
          <p:nvPr/>
        </p:nvSpPr>
        <p:spPr>
          <a:xfrm>
            <a:off x="6600873" y="2536410"/>
            <a:ext cx="639296" cy="5469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C6DDA-9566-4679-B32E-A4D40F2192D8}"/>
              </a:ext>
            </a:extLst>
          </p:cNvPr>
          <p:cNvSpPr txBox="1"/>
          <p:nvPr/>
        </p:nvSpPr>
        <p:spPr>
          <a:xfrm>
            <a:off x="6214271" y="3167701"/>
            <a:ext cx="3298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3Lot</a:t>
            </a:r>
            <a:r>
              <a:rPr lang="ko-KR" altLang="en-US" dirty="0"/>
              <a:t> 검사이력 저장</a:t>
            </a:r>
          </a:p>
        </p:txBody>
      </p:sp>
    </p:spTree>
    <p:extLst>
      <p:ext uri="{BB962C8B-B14F-4D97-AF65-F5344CB8AC3E}">
        <p14:creationId xmlns:p14="http://schemas.microsoft.com/office/powerpoint/2010/main" val="3373274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2934</TotalTime>
  <Words>1732</Words>
  <Application>Microsoft Office PowerPoint</Application>
  <PresentationFormat>Widescreen</PresentationFormat>
  <Paragraphs>309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Arial Unicode MS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k0811js</dc:creator>
  <cp:lastModifiedBy>HDI-IT-NB-001</cp:lastModifiedBy>
  <cp:revision>15</cp:revision>
  <dcterms:created xsi:type="dcterms:W3CDTF">2025-09-10T19:20:38Z</dcterms:created>
  <dcterms:modified xsi:type="dcterms:W3CDTF">2025-12-20T08:25:04Z</dcterms:modified>
</cp:coreProperties>
</file>